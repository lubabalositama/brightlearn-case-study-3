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B95944-F67B-4A15-B25D-9E2B05D0B2BA}" v="1" dt="2025-11-23T00:42:35.2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6" d="100"/>
          <a:sy n="56" d="100"/>
        </p:scale>
        <p:origin x="1296"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babalo Sesonasipho Sitama" userId="f08577ed4d9ca705" providerId="LiveId" clId="{11A5A81E-619A-4B20-85BB-FCF3D5D949A6}"/>
    <pc:docChg chg="custSel addSld modSld">
      <pc:chgData name="Lubabalo Sesonasipho Sitama" userId="f08577ed4d9ca705" providerId="LiveId" clId="{11A5A81E-619A-4B20-85BB-FCF3D5D949A6}" dt="2025-11-23T00:44:16.555" v="28" actId="14100"/>
      <pc:docMkLst>
        <pc:docMk/>
      </pc:docMkLst>
      <pc:sldChg chg="modSp mod">
        <pc:chgData name="Lubabalo Sesonasipho Sitama" userId="f08577ed4d9ca705" providerId="LiveId" clId="{11A5A81E-619A-4B20-85BB-FCF3D5D949A6}" dt="2025-11-23T00:38:26.064" v="7" actId="14100"/>
        <pc:sldMkLst>
          <pc:docMk/>
          <pc:sldMk cId="3005356173" sldId="256"/>
        </pc:sldMkLst>
        <pc:spChg chg="mod">
          <ac:chgData name="Lubabalo Sesonasipho Sitama" userId="f08577ed4d9ca705" providerId="LiveId" clId="{11A5A81E-619A-4B20-85BB-FCF3D5D949A6}" dt="2025-11-23T00:38:14.375" v="4" actId="14100"/>
          <ac:spMkLst>
            <pc:docMk/>
            <pc:sldMk cId="3005356173" sldId="256"/>
            <ac:spMk id="2" creationId="{4AB434DB-6C75-B5BA-9CFD-7FED6BD206A1}"/>
          </ac:spMkLst>
        </pc:spChg>
        <pc:spChg chg="mod">
          <ac:chgData name="Lubabalo Sesonasipho Sitama" userId="f08577ed4d9ca705" providerId="LiveId" clId="{11A5A81E-619A-4B20-85BB-FCF3D5D949A6}" dt="2025-11-23T00:38:26.064" v="7" actId="14100"/>
          <ac:spMkLst>
            <pc:docMk/>
            <pc:sldMk cId="3005356173" sldId="256"/>
            <ac:spMk id="3" creationId="{4728D5AC-18FE-A6A9-624D-3C4D15B40C3F}"/>
          </ac:spMkLst>
        </pc:spChg>
      </pc:sldChg>
      <pc:sldChg chg="modSp mod">
        <pc:chgData name="Lubabalo Sesonasipho Sitama" userId="f08577ed4d9ca705" providerId="LiveId" clId="{11A5A81E-619A-4B20-85BB-FCF3D5D949A6}" dt="2025-11-23T00:42:17.173" v="9" actId="27636"/>
        <pc:sldMkLst>
          <pc:docMk/>
          <pc:sldMk cId="3819865446" sldId="263"/>
        </pc:sldMkLst>
        <pc:spChg chg="mod">
          <ac:chgData name="Lubabalo Sesonasipho Sitama" userId="f08577ed4d9ca705" providerId="LiveId" clId="{11A5A81E-619A-4B20-85BB-FCF3D5D949A6}" dt="2025-11-23T00:42:17.173" v="9" actId="27636"/>
          <ac:spMkLst>
            <pc:docMk/>
            <pc:sldMk cId="3819865446" sldId="263"/>
            <ac:spMk id="2" creationId="{916FD55E-034F-8B81-B0DA-B9327ED08FD6}"/>
          </ac:spMkLst>
        </pc:spChg>
      </pc:sldChg>
      <pc:sldChg chg="modSp new mod">
        <pc:chgData name="Lubabalo Sesonasipho Sitama" userId="f08577ed4d9ca705" providerId="LiveId" clId="{11A5A81E-619A-4B20-85BB-FCF3D5D949A6}" dt="2025-11-23T00:44:16.555" v="28" actId="14100"/>
        <pc:sldMkLst>
          <pc:docMk/>
          <pc:sldMk cId="2085796469" sldId="264"/>
        </pc:sldMkLst>
        <pc:spChg chg="mod">
          <ac:chgData name="Lubabalo Sesonasipho Sitama" userId="f08577ed4d9ca705" providerId="LiveId" clId="{11A5A81E-619A-4B20-85BB-FCF3D5D949A6}" dt="2025-11-23T00:44:16.555" v="28" actId="14100"/>
          <ac:spMkLst>
            <pc:docMk/>
            <pc:sldMk cId="2085796469" sldId="264"/>
            <ac:spMk id="3" creationId="{32F5E092-7E8D-38A0-6811-A0DEAF384D6C}"/>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f08577ed4d9ca705/Documents/BRIGHTLEARN/CASE%20STUDY%203/Case_Study_3_Visual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f08577ed4d9ca705/Documents/BRIGHTLEARN/CASE%20STUDY%203/Case_Study_3_Visual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f08577ed4d9ca705/Documents/BRIGHTLEARN/CASE%20STUDY%203/Case_Study_3_Visual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f08577ed4d9ca705/Documents/BRIGHTLEARN/CASE%20STUDY%203/Case_Study_3_Visual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f08577ed4d9ca705/Documents/BRIGHTLEARN/CASE%20STUDY%203/Case_Study_3_Visual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f08577ed4d9ca705/Documents/BRIGHTLEARN/CASE%20STUDY%203/Case_Study_3_Visual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f08577ed4d9ca705/Documents/BRIGHTLEARN/CASE%20STUDY%203/Case_Study_3_Visual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f08577ed4d9ca705/Documents/BRIGHTLEARN/CASE%20STUDY%203/Case_Study_3_Visuals.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d.docs.live.net/f08577ed4d9ca705/Documents/BRIGHTLEARN/CASE%20STUDY%203/Case_Study_3_Visuals.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[Case_Study_3_Visuals.xlsx]Sales!PivotTable1</c:name>
    <c:fmtId val="20"/>
  </c:pivotSource>
  <c:chart>
    <c:title>
      <c:tx>
        <c:rich>
          <a:bodyPr rot="0" spcFirstLastPara="1" vertOverflow="ellipsis" vert="horz" wrap="square" anchor="ctr" anchorCtr="1"/>
          <a:lstStyle/>
          <a:p>
            <a:pPr>
              <a:defRPr sz="1800" b="1" i="0" u="none" strike="noStrike" kern="1200" cap="all" spc="150" baseline="0">
                <a:solidFill>
                  <a:sysClr val="windowText" lastClr="000000"/>
                </a:solidFill>
                <a:latin typeface="+mn-lt"/>
                <a:ea typeface="+mn-ea"/>
                <a:cs typeface="+mn-cs"/>
              </a:defRPr>
            </a:pPr>
            <a:r>
              <a:rPr lang="en-US">
                <a:solidFill>
                  <a:sysClr val="windowText" lastClr="000000"/>
                </a:solidFill>
              </a:rPr>
              <a:t>SALES TREND BY DATE</a:t>
            </a:r>
          </a:p>
        </c:rich>
      </c:tx>
      <c:layout>
        <c:manualLayout>
          <c:xMode val="edge"/>
          <c:yMode val="edge"/>
          <c:x val="0.27802083333333327"/>
          <c:y val="6.9580853932687953E-2"/>
        </c:manualLayout>
      </c:layout>
      <c:overlay val="0"/>
      <c:spPr>
        <a:noFill/>
        <a:ln>
          <a:noFill/>
        </a:ln>
        <a:effectLst/>
      </c:spPr>
      <c:txPr>
        <a:bodyPr rot="0" spcFirstLastPara="1" vertOverflow="ellipsis" vert="horz" wrap="square" anchor="ctr" anchorCtr="1"/>
        <a:lstStyle/>
        <a:p>
          <a:pPr>
            <a:defRPr sz="1800" b="1" i="0" u="none" strike="noStrike" kern="1200" cap="all" spc="150" baseline="0">
              <a:solidFill>
                <a:sysClr val="windowText" lastClr="000000"/>
              </a:solidFill>
              <a:latin typeface="+mn-lt"/>
              <a:ea typeface="+mn-ea"/>
              <a:cs typeface="+mn-cs"/>
            </a:defRPr>
          </a:pPr>
          <a:endParaRPr lang="en-US"/>
        </a:p>
      </c:txPr>
    </c:title>
    <c:autoTitleDeleted val="0"/>
    <c:pivotFmts>
      <c:pivotFmt>
        <c:idx val="0"/>
        <c:spPr>
          <a:solidFill>
            <a:schemeClr val="accent5"/>
          </a:solidFill>
          <a:ln w="38100" cap="flat" cmpd="dbl" algn="ctr">
            <a:solidFill>
              <a:schemeClr val="accent5"/>
            </a:solidFill>
            <a:miter lim="800000"/>
          </a:ln>
          <a:effectLst/>
        </c:spPr>
        <c:marker>
          <c:symbol val="circle"/>
          <c:size val="6"/>
          <c:spPr>
            <a:solidFill>
              <a:schemeClr val="accent2"/>
            </a:solidFill>
            <a:ln w="9525" cap="flat" cmpd="sng" algn="ctr">
              <a:solidFill>
                <a:schemeClr val="l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5"/>
          </a:solidFill>
          <a:ln w="38100" cap="flat" cmpd="dbl" algn="ctr">
            <a:solidFill>
              <a:schemeClr val="accent5"/>
            </a:solidFill>
            <a:miter lim="800000"/>
          </a:ln>
          <a:effectLst/>
        </c:spPr>
        <c:marker>
          <c:symbol val="circle"/>
          <c:size val="6"/>
          <c:spPr>
            <a:solidFill>
              <a:schemeClr val="accent2"/>
            </a:solidFill>
            <a:ln w="9525" cap="flat" cmpd="sng" algn="ctr">
              <a:solidFill>
                <a:schemeClr val="l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5"/>
          </a:solidFill>
          <a:ln w="38100" cap="flat" cmpd="dbl" algn="ctr">
            <a:solidFill>
              <a:schemeClr val="accent5"/>
            </a:solidFill>
            <a:miter lim="800000"/>
          </a:ln>
          <a:effectLst/>
        </c:spPr>
        <c:marker>
          <c:symbol val="circle"/>
          <c:size val="6"/>
          <c:spPr>
            <a:solidFill>
              <a:schemeClr val="accent2"/>
            </a:solidFill>
            <a:ln w="9525" cap="flat" cmpd="sng" algn="ctr">
              <a:solidFill>
                <a:schemeClr val="l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1101902887139108"/>
          <c:y val="9.5106040875363479E-2"/>
          <c:w val="0.86606430446194227"/>
          <c:h val="0.82023139022142455"/>
        </c:manualLayout>
      </c:layout>
      <c:lineChart>
        <c:grouping val="standard"/>
        <c:varyColors val="0"/>
        <c:ser>
          <c:idx val="0"/>
          <c:order val="0"/>
          <c:tx>
            <c:strRef>
              <c:f>Sales!$B$3</c:f>
              <c:strCache>
                <c:ptCount val="1"/>
                <c:pt idx="0">
                  <c:v>Total</c:v>
                </c:pt>
              </c:strCache>
            </c:strRef>
          </c:tx>
          <c:spPr>
            <a:ln w="38100" cap="flat" cmpd="dbl" algn="ctr">
              <a:solidFill>
                <a:schemeClr val="accent5"/>
              </a:solidFill>
              <a:miter lim="800000"/>
            </a:ln>
            <a:effectLst/>
          </c:spPr>
          <c:marker>
            <c:symbol val="circle"/>
            <c:size val="6"/>
            <c:spPr>
              <a:solidFill>
                <a:schemeClr val="accent2"/>
              </a:solidFill>
              <a:ln w="9525" cap="flat" cmpd="sng" algn="ctr">
                <a:solidFill>
                  <a:schemeClr val="lt1"/>
                </a:solidFill>
                <a:round/>
              </a:ln>
              <a:effectLst/>
            </c:spPr>
          </c:marker>
          <c:cat>
            <c:strRef>
              <c:f>Sales!$A$4:$A$35</c:f>
              <c:strCache>
                <c:ptCount val="3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Sales!$B$4:$B$35</c:f>
              <c:numCache>
                <c:formatCode>General</c:formatCode>
                <c:ptCount val="31"/>
                <c:pt idx="0">
                  <c:v>10557419.363429999</c:v>
                </c:pt>
                <c:pt idx="1">
                  <c:v>9577005.8879200034</c:v>
                </c:pt>
                <c:pt idx="2">
                  <c:v>8347513.54789</c:v>
                </c:pt>
                <c:pt idx="3">
                  <c:v>7769284.4954200005</c:v>
                </c:pt>
                <c:pt idx="4">
                  <c:v>6651117.9539299998</c:v>
                </c:pt>
                <c:pt idx="5">
                  <c:v>6305280.0481399996</c:v>
                </c:pt>
                <c:pt idx="6">
                  <c:v>5279811.2010900006</c:v>
                </c:pt>
                <c:pt idx="7">
                  <c:v>4982104.4218000006</c:v>
                </c:pt>
                <c:pt idx="8">
                  <c:v>4363651.65814</c:v>
                </c:pt>
                <c:pt idx="9">
                  <c:v>4353496.8884900007</c:v>
                </c:pt>
                <c:pt idx="10">
                  <c:v>4277374.4730000012</c:v>
                </c:pt>
                <c:pt idx="11">
                  <c:v>4343683.9730000002</c:v>
                </c:pt>
                <c:pt idx="12">
                  <c:v>4765327.4251899999</c:v>
                </c:pt>
                <c:pt idx="13">
                  <c:v>4829337.1985999988</c:v>
                </c:pt>
                <c:pt idx="14">
                  <c:v>5898177.7125899978</c:v>
                </c:pt>
                <c:pt idx="15">
                  <c:v>5331797.8973500011</c:v>
                </c:pt>
                <c:pt idx="16">
                  <c:v>5113322.9503800003</c:v>
                </c:pt>
                <c:pt idx="17">
                  <c:v>4358523.5143900001</c:v>
                </c:pt>
                <c:pt idx="18">
                  <c:v>4137983.1099200002</c:v>
                </c:pt>
                <c:pt idx="19">
                  <c:v>4510175.0150800003</c:v>
                </c:pt>
                <c:pt idx="20">
                  <c:v>4178498.0139700002</c:v>
                </c:pt>
                <c:pt idx="21">
                  <c:v>4474436.9231799999</c:v>
                </c:pt>
                <c:pt idx="22">
                  <c:v>5131518.5429600002</c:v>
                </c:pt>
                <c:pt idx="23">
                  <c:v>5925017.63925</c:v>
                </c:pt>
                <c:pt idx="24">
                  <c:v>7271364.3004100015</c:v>
                </c:pt>
                <c:pt idx="25">
                  <c:v>6664687.517860001</c:v>
                </c:pt>
                <c:pt idx="26">
                  <c:v>6899791.5122299995</c:v>
                </c:pt>
                <c:pt idx="27">
                  <c:v>6846778.8888300005</c:v>
                </c:pt>
                <c:pt idx="28">
                  <c:v>6265570.7204899993</c:v>
                </c:pt>
                <c:pt idx="29">
                  <c:v>7512053.0370600019</c:v>
                </c:pt>
                <c:pt idx="30">
                  <c:v>5337031.1504300004</c:v>
                </c:pt>
              </c:numCache>
            </c:numRef>
          </c:val>
          <c:smooth val="0"/>
          <c:extLst>
            <c:ext xmlns:c16="http://schemas.microsoft.com/office/drawing/2014/chart" uri="{C3380CC4-5D6E-409C-BE32-E72D297353CC}">
              <c16:uniqueId val="{00000000-068A-4780-B2F5-43CC5A286208}"/>
            </c:ext>
          </c:extLst>
        </c:ser>
        <c:dLbls>
          <c:showLegendKey val="0"/>
          <c:showVal val="0"/>
          <c:showCatName val="0"/>
          <c:showSerName val="0"/>
          <c:showPercent val="0"/>
          <c:showBubbleSize val="0"/>
        </c:dLbls>
        <c:marker val="1"/>
        <c:smooth val="0"/>
        <c:axId val="586320927"/>
        <c:axId val="586325727"/>
      </c:lineChart>
      <c:catAx>
        <c:axId val="586320927"/>
        <c:scaling>
          <c:orientation val="minMax"/>
        </c:scaling>
        <c:delete val="0"/>
        <c:axPos val="b"/>
        <c:numFmt formatCode="General" sourceLinked="1"/>
        <c:majorTickMark val="none"/>
        <c:minorTickMark val="none"/>
        <c:tickLblPos val="nextTo"/>
        <c:spPr>
          <a:noFill/>
          <a:ln w="3175" cap="flat" cmpd="sng" algn="ctr">
            <a:solidFill>
              <a:schemeClr val="tx1">
                <a:lumMod val="15000"/>
                <a:lumOff val="85000"/>
              </a:schemeClr>
            </a:solidFill>
            <a:round/>
            <a:tailEnd type="none" w="med" len="lg"/>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586325727"/>
        <c:crosses val="autoZero"/>
        <c:auto val="1"/>
        <c:lblAlgn val="ctr"/>
        <c:lblOffset val="100"/>
        <c:noMultiLvlLbl val="0"/>
      </c:catAx>
      <c:valAx>
        <c:axId val="586325727"/>
        <c:scaling>
          <c:orientation val="minMax"/>
        </c:scaling>
        <c:delete val="0"/>
        <c:axPos val="l"/>
        <c:numFmt formatCode="General" sourceLinked="1"/>
        <c:majorTickMark val="none"/>
        <c:minorTickMark val="none"/>
        <c:tickLblPos val="nextTo"/>
        <c:spPr>
          <a:noFill/>
          <a:ln w="3175" cap="flat" cmpd="sng" algn="ctr">
            <a:solidFill>
              <a:schemeClr val="tx1">
                <a:lumMod val="15000"/>
                <a:lumOff val="85000"/>
              </a:schemeClr>
            </a:solidFill>
            <a:round/>
            <a:tailEnd type="none" w="med" len="lg"/>
          </a:ln>
          <a:effectLst/>
        </c:spPr>
        <c:txPr>
          <a:bodyPr rot="-60000000" spcFirstLastPara="1" vertOverflow="ellipsis" vert="horz" wrap="square" anchor="ctr" anchorCtr="1"/>
          <a:lstStyle/>
          <a:p>
            <a:pPr>
              <a:defRPr sz="1000" b="1" i="0" u="none" strike="noStrike" kern="1200" baseline="0">
                <a:solidFill>
                  <a:sysClr val="windowText" lastClr="000000"/>
                </a:solidFill>
                <a:latin typeface="+mn-lt"/>
                <a:ea typeface="+mn-ea"/>
                <a:cs typeface="+mn-cs"/>
              </a:defRPr>
            </a:pPr>
            <a:endParaRPr lang="en-US"/>
          </a:p>
        </c:txPr>
        <c:crossAx val="58632092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[Case_Study_3_Visuals.xlsx]Sales!PivotTable1</c:name>
    <c:fmtId val="23"/>
  </c:pivotSource>
  <c:chart>
    <c:autoTitleDeleted val="1"/>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lumMod val="75000"/>
            </a:schemeClr>
          </a:solidFill>
          <a:ln w="9525" cap="flat" cmpd="sng" algn="ctr">
            <a:solidFill>
              <a:schemeClr val="accent5">
                <a:shade val="95000"/>
              </a:schemeClr>
            </a:solidFill>
            <a:round/>
          </a:ln>
          <a:effectLst>
            <a:outerShdw blurRad="40000" dist="20000" dir="5400000" rotWithShape="0">
              <a:srgbClr val="000000">
                <a:alpha val="38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lumMod val="75000"/>
            </a:schemeClr>
          </a:solidFill>
          <a:ln w="9525" cap="flat" cmpd="sng" algn="ctr">
            <a:solidFill>
              <a:schemeClr val="accent5">
                <a:shade val="95000"/>
              </a:schemeClr>
            </a:solidFill>
            <a:round/>
          </a:ln>
          <a:effectLst>
            <a:outerShdw blurRad="40000" dist="20000" dir="5400000" rotWithShape="0">
              <a:srgbClr val="000000">
                <a:alpha val="38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lumMod val="75000"/>
            </a:schemeClr>
          </a:solidFill>
          <a:ln w="9525" cap="flat" cmpd="sng" algn="ctr">
            <a:solidFill>
              <a:schemeClr val="accent5">
                <a:shade val="95000"/>
              </a:schemeClr>
            </a:solidFill>
            <a:round/>
          </a:ln>
          <a:effectLst>
            <a:outerShdw blurRad="40000" dist="20000" dir="5400000" rotWithShape="0">
              <a:srgbClr val="000000">
                <a:alpha val="38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1101902887139108"/>
          <c:y val="9.1784386767553364E-2"/>
          <c:w val="0.86606430446194227"/>
          <c:h val="0.82333977221283339"/>
        </c:manualLayout>
      </c:layout>
      <c:barChart>
        <c:barDir val="col"/>
        <c:grouping val="clustered"/>
        <c:varyColors val="0"/>
        <c:ser>
          <c:idx val="0"/>
          <c:order val="0"/>
          <c:tx>
            <c:strRef>
              <c:f>Sales!$B$3</c:f>
              <c:strCache>
                <c:ptCount val="1"/>
                <c:pt idx="0">
                  <c:v>Total</c:v>
                </c:pt>
              </c:strCache>
            </c:strRef>
          </c:tx>
          <c:spPr>
            <a:solidFill>
              <a:schemeClr val="accent2">
                <a:lumMod val="75000"/>
              </a:schemeClr>
            </a:solidFill>
            <a:ln w="9525" cap="flat" cmpd="sng" algn="ctr">
              <a:solidFill>
                <a:schemeClr val="accent5">
                  <a:shade val="95000"/>
                </a:schemeClr>
              </a:solidFill>
              <a:round/>
            </a:ln>
            <a:effectLst>
              <a:outerShdw blurRad="40000" dist="20000" dir="5400000" rotWithShape="0">
                <a:srgbClr val="000000">
                  <a:alpha val="38000"/>
                </a:srgbClr>
              </a:outerShdw>
            </a:effectLst>
          </c:spPr>
          <c:invertIfNegative val="0"/>
          <c:cat>
            <c:strRef>
              <c:f>Sales!$A$4:$A$35</c:f>
              <c:strCache>
                <c:ptCount val="3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Sales!$B$4:$B$35</c:f>
              <c:numCache>
                <c:formatCode>General</c:formatCode>
                <c:ptCount val="31"/>
                <c:pt idx="0">
                  <c:v>10557419.363429999</c:v>
                </c:pt>
                <c:pt idx="1">
                  <c:v>9577005.8879200034</c:v>
                </c:pt>
                <c:pt idx="2">
                  <c:v>8347513.54789</c:v>
                </c:pt>
                <c:pt idx="3">
                  <c:v>7769284.4954200005</c:v>
                </c:pt>
                <c:pt idx="4">
                  <c:v>6651117.9539299998</c:v>
                </c:pt>
                <c:pt idx="5">
                  <c:v>6305280.0481399996</c:v>
                </c:pt>
                <c:pt idx="6">
                  <c:v>5279811.2010900006</c:v>
                </c:pt>
                <c:pt idx="7">
                  <c:v>4982104.4218000006</c:v>
                </c:pt>
                <c:pt idx="8">
                  <c:v>4363651.65814</c:v>
                </c:pt>
                <c:pt idx="9">
                  <c:v>4353496.8884900007</c:v>
                </c:pt>
                <c:pt idx="10">
                  <c:v>4277374.4730000012</c:v>
                </c:pt>
                <c:pt idx="11">
                  <c:v>4343683.9730000002</c:v>
                </c:pt>
                <c:pt idx="12">
                  <c:v>4765327.4251899999</c:v>
                </c:pt>
                <c:pt idx="13">
                  <c:v>4829337.1985999988</c:v>
                </c:pt>
                <c:pt idx="14">
                  <c:v>5898177.7125899978</c:v>
                </c:pt>
                <c:pt idx="15">
                  <c:v>5331797.8973500011</c:v>
                </c:pt>
                <c:pt idx="16">
                  <c:v>5113322.9503800003</c:v>
                </c:pt>
                <c:pt idx="17">
                  <c:v>4358523.5143900001</c:v>
                </c:pt>
                <c:pt idx="18">
                  <c:v>4137983.1099200002</c:v>
                </c:pt>
                <c:pt idx="19">
                  <c:v>4510175.0150800003</c:v>
                </c:pt>
                <c:pt idx="20">
                  <c:v>4178498.0139700002</c:v>
                </c:pt>
                <c:pt idx="21">
                  <c:v>4474436.9231799999</c:v>
                </c:pt>
                <c:pt idx="22">
                  <c:v>5131518.5429600002</c:v>
                </c:pt>
                <c:pt idx="23">
                  <c:v>5925017.63925</c:v>
                </c:pt>
                <c:pt idx="24">
                  <c:v>7271364.3004100015</c:v>
                </c:pt>
                <c:pt idx="25">
                  <c:v>6664687.517860001</c:v>
                </c:pt>
                <c:pt idx="26">
                  <c:v>6899791.5122299995</c:v>
                </c:pt>
                <c:pt idx="27">
                  <c:v>6846778.8888300005</c:v>
                </c:pt>
                <c:pt idx="28">
                  <c:v>6265570.7204899993</c:v>
                </c:pt>
                <c:pt idx="29">
                  <c:v>7512053.0370600019</c:v>
                </c:pt>
                <c:pt idx="30">
                  <c:v>5337031.1504300004</c:v>
                </c:pt>
              </c:numCache>
            </c:numRef>
          </c:val>
          <c:extLst>
            <c:ext xmlns:c16="http://schemas.microsoft.com/office/drawing/2014/chart" uri="{C3380CC4-5D6E-409C-BE32-E72D297353CC}">
              <c16:uniqueId val="{00000000-A86B-40DC-86DB-2E76F8395C44}"/>
            </c:ext>
          </c:extLst>
        </c:ser>
        <c:dLbls>
          <c:showLegendKey val="0"/>
          <c:showVal val="0"/>
          <c:showCatName val="0"/>
          <c:showSerName val="0"/>
          <c:showPercent val="0"/>
          <c:showBubbleSize val="0"/>
        </c:dLbls>
        <c:gapWidth val="75"/>
        <c:overlap val="-25"/>
        <c:axId val="586320927"/>
        <c:axId val="586325727"/>
      </c:barChart>
      <c:catAx>
        <c:axId val="5863209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586325727"/>
        <c:crosses val="autoZero"/>
        <c:auto val="1"/>
        <c:lblAlgn val="ctr"/>
        <c:lblOffset val="100"/>
        <c:noMultiLvlLbl val="0"/>
      </c:catAx>
      <c:valAx>
        <c:axId val="586325727"/>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58632092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[Case_Study_3_Visuals.xlsx]Sales!PivotTable2</c:name>
    <c:fmtId val="38"/>
  </c:pivotSource>
  <c:chart>
    <c:title>
      <c:tx>
        <c:rich>
          <a:bodyPr rot="0" spcFirstLastPara="1" vertOverflow="ellipsis" vert="horz" wrap="square" anchor="ctr" anchorCtr="1"/>
          <a:lstStyle/>
          <a:p>
            <a:pPr>
              <a:defRPr sz="1400" b="1" i="0" u="none" strike="noStrike" kern="1200" spc="0" baseline="0">
                <a:solidFill>
                  <a:sysClr val="windowText" lastClr="000000"/>
                </a:solidFill>
                <a:latin typeface="+mn-lt"/>
                <a:ea typeface="+mn-ea"/>
                <a:cs typeface="+mn-cs"/>
              </a:defRPr>
            </a:pPr>
            <a:r>
              <a:rPr lang="en-US" b="1">
                <a:solidFill>
                  <a:sysClr val="windowText" lastClr="000000"/>
                </a:solidFill>
              </a:rPr>
              <a:t>SALES TREND BY DAY OF THE WEEK</a:t>
            </a:r>
          </a:p>
        </c:rich>
      </c:tx>
      <c:overlay val="0"/>
      <c:spPr>
        <a:noFill/>
        <a:ln>
          <a:noFill/>
        </a:ln>
        <a:effectLst/>
      </c:spPr>
      <c:txPr>
        <a:bodyPr rot="0" spcFirstLastPara="1" vertOverflow="ellipsis" vert="horz" wrap="square" anchor="ctr" anchorCtr="1"/>
        <a:lstStyle/>
        <a:p>
          <a:pPr>
            <a:defRPr sz="1400" b="1" i="0" u="none" strike="noStrike" kern="1200" spc="0" baseline="0">
              <a:solidFill>
                <a:sysClr val="windowText" lastClr="000000"/>
              </a:solidFill>
              <a:latin typeface="+mn-lt"/>
              <a:ea typeface="+mn-ea"/>
              <a:cs typeface="+mn-cs"/>
            </a:defRPr>
          </a:pPr>
          <a:endParaRPr lang="en-US"/>
        </a:p>
      </c:txPr>
    </c:title>
    <c:autoTitleDeleted val="0"/>
    <c:pivotFmts>
      <c:pivotFmt>
        <c:idx val="0"/>
        <c:spPr>
          <a:solidFill>
            <a:schemeClr val="accent2">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Sales!$B$37</c:f>
              <c:strCache>
                <c:ptCount val="1"/>
                <c:pt idx="0">
                  <c:v>Total</c:v>
                </c:pt>
              </c:strCache>
            </c:strRef>
          </c:tx>
          <c:spPr>
            <a:solidFill>
              <a:schemeClr val="accent2">
                <a:lumMod val="75000"/>
              </a:schemeClr>
            </a:solidFill>
            <a:ln>
              <a:noFill/>
            </a:ln>
            <a:effectLst/>
          </c:spPr>
          <c:invertIfNegative val="0"/>
          <c:errBars>
            <c:errBarType val="both"/>
            <c:errValType val="stdErr"/>
            <c:noEndCap val="0"/>
            <c:spPr>
              <a:noFill/>
              <a:ln w="9525" cap="flat" cmpd="sng" algn="ctr">
                <a:solidFill>
                  <a:schemeClr val="tx1">
                    <a:lumMod val="65000"/>
                    <a:lumOff val="35000"/>
                  </a:schemeClr>
                </a:solidFill>
                <a:round/>
              </a:ln>
              <a:effectLst/>
            </c:spPr>
          </c:errBars>
          <c:cat>
            <c:strRef>
              <c:f>Sales!$A$38:$A$45</c:f>
              <c:strCache>
                <c:ptCount val="7"/>
                <c:pt idx="0">
                  <c:v>Sun</c:v>
                </c:pt>
                <c:pt idx="1">
                  <c:v>Mon</c:v>
                </c:pt>
                <c:pt idx="2">
                  <c:v>Tue</c:v>
                </c:pt>
                <c:pt idx="3">
                  <c:v>Wed</c:v>
                </c:pt>
                <c:pt idx="4">
                  <c:v>Thu</c:v>
                </c:pt>
                <c:pt idx="5">
                  <c:v>Fri</c:v>
                </c:pt>
                <c:pt idx="6">
                  <c:v>Sat</c:v>
                </c:pt>
              </c:strCache>
            </c:strRef>
          </c:cat>
          <c:val>
            <c:numRef>
              <c:f>Sales!$B$38:$B$45</c:f>
              <c:numCache>
                <c:formatCode>General</c:formatCode>
                <c:ptCount val="7"/>
                <c:pt idx="0">
                  <c:v>20096877.789770007</c:v>
                </c:pt>
                <c:pt idx="1">
                  <c:v>22974511.613169998</c:v>
                </c:pt>
                <c:pt idx="2">
                  <c:v>20108569.521029998</c:v>
                </c:pt>
                <c:pt idx="3">
                  <c:v>21504195.758349996</c:v>
                </c:pt>
                <c:pt idx="4">
                  <c:v>20752189.136840004</c:v>
                </c:pt>
                <c:pt idx="5">
                  <c:v>35956072.621159986</c:v>
                </c:pt>
                <c:pt idx="6">
                  <c:v>40866720.542099983</c:v>
                </c:pt>
              </c:numCache>
            </c:numRef>
          </c:val>
          <c:extLst>
            <c:ext xmlns:c16="http://schemas.microsoft.com/office/drawing/2014/chart" uri="{C3380CC4-5D6E-409C-BE32-E72D297353CC}">
              <c16:uniqueId val="{00000000-440D-4D73-BCB9-180063CC9CD6}"/>
            </c:ext>
          </c:extLst>
        </c:ser>
        <c:dLbls>
          <c:showLegendKey val="0"/>
          <c:showVal val="0"/>
          <c:showCatName val="0"/>
          <c:showSerName val="0"/>
          <c:showPercent val="0"/>
          <c:showBubbleSize val="0"/>
        </c:dLbls>
        <c:gapWidth val="150"/>
        <c:axId val="1796692416"/>
        <c:axId val="1796694816"/>
      </c:barChart>
      <c:catAx>
        <c:axId val="179669241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ysClr val="windowText" lastClr="000000"/>
                </a:solidFill>
                <a:latin typeface="+mn-lt"/>
                <a:ea typeface="+mn-ea"/>
                <a:cs typeface="+mn-cs"/>
              </a:defRPr>
            </a:pPr>
            <a:endParaRPr lang="en-US"/>
          </a:p>
        </c:txPr>
        <c:crossAx val="1796694816"/>
        <c:crosses val="autoZero"/>
        <c:auto val="1"/>
        <c:lblAlgn val="ctr"/>
        <c:lblOffset val="100"/>
        <c:noMultiLvlLbl val="0"/>
      </c:catAx>
      <c:valAx>
        <c:axId val="179669481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ysClr val="windowText" lastClr="000000"/>
                </a:solidFill>
                <a:latin typeface="+mn-lt"/>
                <a:ea typeface="+mn-ea"/>
                <a:cs typeface="+mn-cs"/>
              </a:defRPr>
            </a:pPr>
            <a:endParaRPr lang="en-US"/>
          </a:p>
        </c:txPr>
        <c:crossAx val="17966924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[Case_Study_3_Visuals.xlsx]Sales!PivotTable2</c:name>
    <c:fmtId val="41"/>
  </c:pivotSource>
  <c:chart>
    <c:autoTitleDeleted val="1"/>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2"/>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3"/>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4"/>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5"/>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6"/>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7"/>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8"/>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9"/>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10"/>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1"/>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2"/>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3"/>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4"/>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5"/>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6"/>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7"/>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18"/>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9"/>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20"/>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21"/>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22"/>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23"/>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24"/>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s>
    <c:plotArea>
      <c:layout>
        <c:manualLayout>
          <c:layoutTarget val="inner"/>
          <c:xMode val="edge"/>
          <c:yMode val="edge"/>
          <c:x val="0.29830704357532456"/>
          <c:y val="8.2103186807729475E-2"/>
          <c:w val="0.40067567178278635"/>
          <c:h val="0.81797635923095624"/>
        </c:manualLayout>
      </c:layout>
      <c:doughnutChart>
        <c:varyColors val="1"/>
        <c:ser>
          <c:idx val="0"/>
          <c:order val="0"/>
          <c:tx>
            <c:strRef>
              <c:f>Sales!$B$37</c:f>
              <c:strCache>
                <c:ptCount val="1"/>
                <c:pt idx="0">
                  <c:v>Total</c:v>
                </c:pt>
              </c:strCache>
            </c:strRef>
          </c:tx>
          <c:dPt>
            <c:idx val="0"/>
            <c:bubble3D val="0"/>
            <c:spPr>
              <a:solidFill>
                <a:schemeClr val="accent1"/>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1961-419D-B072-85C854F3BD02}"/>
              </c:ext>
            </c:extLst>
          </c:dPt>
          <c:dPt>
            <c:idx val="1"/>
            <c:bubble3D val="0"/>
            <c:spPr>
              <a:solidFill>
                <a:schemeClr val="accent2"/>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1961-419D-B072-85C854F3BD02}"/>
              </c:ext>
            </c:extLst>
          </c:dPt>
          <c:dPt>
            <c:idx val="2"/>
            <c:bubble3D val="0"/>
            <c:spPr>
              <a:solidFill>
                <a:schemeClr val="accent3"/>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1961-419D-B072-85C854F3BD02}"/>
              </c:ext>
            </c:extLst>
          </c:dPt>
          <c:dPt>
            <c:idx val="3"/>
            <c:bubble3D val="0"/>
            <c:spPr>
              <a:solidFill>
                <a:schemeClr val="accent4"/>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7-1961-419D-B072-85C854F3BD02}"/>
              </c:ext>
            </c:extLst>
          </c:dPt>
          <c:dPt>
            <c:idx val="4"/>
            <c:bubble3D val="0"/>
            <c:spPr>
              <a:solidFill>
                <a:schemeClr val="accent5"/>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9-1961-419D-B072-85C854F3BD02}"/>
              </c:ext>
            </c:extLst>
          </c:dPt>
          <c:dPt>
            <c:idx val="5"/>
            <c:bubble3D val="0"/>
            <c:spPr>
              <a:solidFill>
                <a:schemeClr val="accent6"/>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B-1961-419D-B072-85C854F3BD02}"/>
              </c:ext>
            </c:extLst>
          </c:dPt>
          <c:dPt>
            <c:idx val="6"/>
            <c:bubble3D val="0"/>
            <c:spPr>
              <a:solidFill>
                <a:schemeClr val="accent1">
                  <a:lumMod val="60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D-1961-419D-B072-85C854F3BD02}"/>
              </c:ext>
            </c:extLst>
          </c:dPt>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Sales!$A$38:$A$45</c:f>
              <c:strCache>
                <c:ptCount val="7"/>
                <c:pt idx="0">
                  <c:v>Sun</c:v>
                </c:pt>
                <c:pt idx="1">
                  <c:v>Mon</c:v>
                </c:pt>
                <c:pt idx="2">
                  <c:v>Tue</c:v>
                </c:pt>
                <c:pt idx="3">
                  <c:v>Wed</c:v>
                </c:pt>
                <c:pt idx="4">
                  <c:v>Thu</c:v>
                </c:pt>
                <c:pt idx="5">
                  <c:v>Fri</c:v>
                </c:pt>
                <c:pt idx="6">
                  <c:v>Sat</c:v>
                </c:pt>
              </c:strCache>
            </c:strRef>
          </c:cat>
          <c:val>
            <c:numRef>
              <c:f>Sales!$B$38:$B$45</c:f>
              <c:numCache>
                <c:formatCode>General</c:formatCode>
                <c:ptCount val="7"/>
                <c:pt idx="0">
                  <c:v>20096877.789770007</c:v>
                </c:pt>
                <c:pt idx="1">
                  <c:v>22974511.613169998</c:v>
                </c:pt>
                <c:pt idx="2">
                  <c:v>20108569.521029998</c:v>
                </c:pt>
                <c:pt idx="3">
                  <c:v>21504195.758349996</c:v>
                </c:pt>
                <c:pt idx="4">
                  <c:v>20752189.136840004</c:v>
                </c:pt>
                <c:pt idx="5">
                  <c:v>35956072.621159986</c:v>
                </c:pt>
                <c:pt idx="6">
                  <c:v>40866720.542099983</c:v>
                </c:pt>
              </c:numCache>
            </c:numRef>
          </c:val>
          <c:extLst>
            <c:ext xmlns:c16="http://schemas.microsoft.com/office/drawing/2014/chart" uri="{C3380CC4-5D6E-409C-BE32-E72D297353CC}">
              <c16:uniqueId val="{0000000E-1961-419D-B072-85C854F3BD02}"/>
            </c:ext>
          </c:extLst>
        </c:ser>
        <c:dLbls>
          <c:showLegendKey val="0"/>
          <c:showVal val="0"/>
          <c:showCatName val="1"/>
          <c:showSerName val="0"/>
          <c:showPercent val="1"/>
          <c:showBubbleSize val="0"/>
          <c:showLeaderLines val="1"/>
        </c:dLbls>
        <c:firstSliceAng val="0"/>
        <c:holeSize val="50"/>
      </c:doughnutChart>
      <c:spPr>
        <a:noFill/>
        <a:ln>
          <a:noFill/>
        </a:ln>
        <a:effectLst/>
      </c:spPr>
    </c:plotArea>
    <c:legend>
      <c:legendPos val="r"/>
      <c:layout>
        <c:manualLayout>
          <c:xMode val="edge"/>
          <c:yMode val="edge"/>
          <c:x val="0.7896975843837537"/>
          <c:y val="7.6497064289404698E-2"/>
          <c:w val="0.19404224954489674"/>
          <c:h val="0.87344817701912325"/>
        </c:manualLayout>
      </c:layout>
      <c:overlay val="0"/>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[Case_Study_3_Visuals.xlsx]Sales!PivotTable3</c:name>
    <c:fmtId val="81"/>
  </c:pivotSource>
  <c:chart>
    <c:title>
      <c:tx>
        <c:rich>
          <a:bodyPr rot="0" spcFirstLastPara="1" vertOverflow="ellipsis" vert="horz" wrap="square" anchor="ctr" anchorCtr="1"/>
          <a:lstStyle/>
          <a:p>
            <a:pPr>
              <a:defRPr sz="1400" b="1" i="0" u="none" strike="noStrike" kern="1200" cap="none" spc="20" baseline="0">
                <a:solidFill>
                  <a:sysClr val="windowText" lastClr="000000"/>
                </a:solidFill>
                <a:latin typeface="+mn-lt"/>
                <a:ea typeface="+mn-ea"/>
                <a:cs typeface="+mn-cs"/>
              </a:defRPr>
            </a:pPr>
            <a:r>
              <a:rPr lang="en-US" b="1">
                <a:solidFill>
                  <a:sysClr val="windowText" lastClr="000000"/>
                </a:solidFill>
              </a:rPr>
              <a:t>SALES TREND BY MONTH</a:t>
            </a:r>
          </a:p>
        </c:rich>
      </c:tx>
      <c:overlay val="0"/>
      <c:spPr>
        <a:noFill/>
        <a:ln>
          <a:noFill/>
        </a:ln>
        <a:effectLst/>
      </c:spPr>
      <c:txPr>
        <a:bodyPr rot="0" spcFirstLastPara="1" vertOverflow="ellipsis" vert="horz" wrap="square" anchor="ctr" anchorCtr="1"/>
        <a:lstStyle/>
        <a:p>
          <a:pPr>
            <a:defRPr sz="1400" b="1" i="0" u="none" strike="noStrike" kern="1200" cap="none" spc="20" baseline="0">
              <a:solidFill>
                <a:sysClr val="windowText" lastClr="000000"/>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22225" cap="rnd" cmpd="sng" algn="ctr">
            <a:solidFill>
              <a:schemeClr val="accent1"/>
            </a:solidFill>
            <a:round/>
          </a:ln>
          <a:effectLst/>
        </c:spPr>
        <c:marker>
          <c:symbol val="circle"/>
          <c:size val="4"/>
          <c:spPr>
            <a:solidFill>
              <a:schemeClr val="accent2">
                <a:lumMod val="75000"/>
              </a:schemeClr>
            </a:solidFill>
            <a:ln w="9525" cap="flat" cmpd="sng" algn="ctr">
              <a:solidFill>
                <a:schemeClr val="accen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22225" cap="rnd" cmpd="sng" algn="ctr">
            <a:solidFill>
              <a:schemeClr val="accent1"/>
            </a:solidFill>
            <a:round/>
          </a:ln>
          <a:effectLst/>
        </c:spPr>
        <c:marker>
          <c:symbol val="circle"/>
          <c:size val="4"/>
          <c:spPr>
            <a:solidFill>
              <a:schemeClr val="accent2">
                <a:lumMod val="75000"/>
              </a:schemeClr>
            </a:solidFill>
            <a:ln w="9525" cap="flat" cmpd="sng" algn="ctr">
              <a:solidFill>
                <a:schemeClr val="accent1"/>
              </a:solidFill>
              <a:round/>
            </a:ln>
            <a:effectLst/>
          </c:spPr>
        </c:marker>
        <c:dLbl>
          <c:idx val="0"/>
          <c:layout>
            <c:manualLayout>
              <c:x val="-5.8236423874735481E-2"/>
              <c:y val="-7.2997445925980828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22225" cap="rnd" cmpd="sng" algn="ctr">
            <a:solidFill>
              <a:schemeClr val="accent1"/>
            </a:solidFill>
            <a:round/>
          </a:ln>
          <a:effectLst/>
        </c:spPr>
        <c:marker>
          <c:symbol val="circle"/>
          <c:size val="4"/>
          <c:spPr>
            <a:solidFill>
              <a:schemeClr val="accent2">
                <a:lumMod val="75000"/>
              </a:schemeClr>
            </a:solidFill>
            <a:ln w="9525" cap="flat" cmpd="sng" algn="ctr">
              <a:solidFill>
                <a:schemeClr val="accen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22225" cap="rnd" cmpd="sng" algn="ctr">
            <a:solidFill>
              <a:schemeClr val="accent1"/>
            </a:solidFill>
            <a:round/>
          </a:ln>
          <a:effectLst/>
        </c:spPr>
        <c:marker>
          <c:symbol val="circle"/>
          <c:size val="4"/>
          <c:spPr>
            <a:solidFill>
              <a:schemeClr val="accent2">
                <a:lumMod val="75000"/>
              </a:schemeClr>
            </a:solidFill>
            <a:ln w="9525" cap="flat" cmpd="sng" algn="ctr">
              <a:solidFill>
                <a:schemeClr val="accent1"/>
              </a:solidFill>
              <a:round/>
            </a:ln>
            <a:effectLst/>
          </c:spPr>
        </c:marker>
        <c:dLbl>
          <c:idx val="0"/>
          <c:layout>
            <c:manualLayout>
              <c:x val="-5.8236423874735481E-2"/>
              <c:y val="-7.2997445925980828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22225" cap="rnd" cmpd="sng" algn="ctr">
            <a:solidFill>
              <a:schemeClr val="accent1"/>
            </a:solidFill>
            <a:round/>
          </a:ln>
          <a:effectLst/>
        </c:spPr>
        <c:marker>
          <c:symbol val="circle"/>
          <c:size val="4"/>
          <c:spPr>
            <a:solidFill>
              <a:schemeClr val="accent2">
                <a:lumMod val="75000"/>
              </a:schemeClr>
            </a:solidFill>
            <a:ln w="9525" cap="flat" cmpd="sng" algn="ctr">
              <a:solidFill>
                <a:schemeClr val="accen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22225" cap="rnd" cmpd="sng" algn="ctr">
            <a:solidFill>
              <a:schemeClr val="accent1"/>
            </a:solidFill>
            <a:round/>
          </a:ln>
          <a:effectLst/>
        </c:spPr>
        <c:marker>
          <c:symbol val="circle"/>
          <c:size val="4"/>
          <c:spPr>
            <a:solidFill>
              <a:schemeClr val="accent2">
                <a:lumMod val="75000"/>
              </a:schemeClr>
            </a:solidFill>
            <a:ln w="9525" cap="flat" cmpd="sng" algn="ctr">
              <a:solidFill>
                <a:schemeClr val="accent1"/>
              </a:solidFill>
              <a:round/>
            </a:ln>
            <a:effectLst/>
          </c:spPr>
        </c:marker>
        <c:dLbl>
          <c:idx val="0"/>
          <c:layout>
            <c:manualLayout>
              <c:x val="-5.8236423874735481E-2"/>
              <c:y val="-7.2997445925980828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Sales!$B$52</c:f>
              <c:strCache>
                <c:ptCount val="1"/>
                <c:pt idx="0">
                  <c:v>Total</c:v>
                </c:pt>
              </c:strCache>
            </c:strRef>
          </c:tx>
          <c:spPr>
            <a:ln w="22225" cap="rnd" cmpd="sng" algn="ctr">
              <a:solidFill>
                <a:schemeClr val="accent1"/>
              </a:solidFill>
              <a:round/>
            </a:ln>
            <a:effectLst/>
          </c:spPr>
          <c:marker>
            <c:symbol val="circle"/>
            <c:size val="4"/>
            <c:spPr>
              <a:solidFill>
                <a:schemeClr val="accent2">
                  <a:lumMod val="75000"/>
                </a:schemeClr>
              </a:solidFill>
              <a:ln w="9525" cap="flat" cmpd="sng" algn="ctr">
                <a:solidFill>
                  <a:schemeClr val="accent1"/>
                </a:solidFill>
                <a:round/>
              </a:ln>
              <a:effectLst/>
            </c:spPr>
          </c:marker>
          <c:dPt>
            <c:idx val="2"/>
            <c:marker>
              <c:symbol val="circle"/>
              <c:size val="4"/>
              <c:spPr>
                <a:solidFill>
                  <a:schemeClr val="accent2">
                    <a:lumMod val="75000"/>
                  </a:schemeClr>
                </a:solidFill>
                <a:ln w="9525" cap="flat" cmpd="sng" algn="ctr">
                  <a:solidFill>
                    <a:schemeClr val="accent1"/>
                  </a:solidFill>
                  <a:round/>
                </a:ln>
                <a:effectLst/>
              </c:spPr>
            </c:marker>
            <c:bubble3D val="0"/>
            <c:spPr>
              <a:ln w="22225" cap="rnd" cmpd="sng" algn="ctr">
                <a:solidFill>
                  <a:schemeClr val="accent1"/>
                </a:solidFill>
                <a:round/>
              </a:ln>
              <a:effectLst/>
            </c:spPr>
            <c:extLst>
              <c:ext xmlns:c16="http://schemas.microsoft.com/office/drawing/2014/chart" uri="{C3380CC4-5D6E-409C-BE32-E72D297353CC}">
                <c16:uniqueId val="{00000001-D446-4180-8D69-D278015E6E32}"/>
              </c:ext>
            </c:extLst>
          </c:dPt>
          <c:dLbls>
            <c:dLbl>
              <c:idx val="2"/>
              <c:layout>
                <c:manualLayout>
                  <c:x val="-5.8236423874735481E-2"/>
                  <c:y val="-7.299744592598082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446-4180-8D69-D278015E6E32}"/>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Sales!$A$53:$A$65</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Sales!$B$53:$B$65</c:f>
              <c:numCache>
                <c:formatCode>General</c:formatCode>
                <c:ptCount val="12"/>
                <c:pt idx="0">
                  <c:v>13107462.506360002</c:v>
                </c:pt>
                <c:pt idx="1">
                  <c:v>15573874.376409998</c:v>
                </c:pt>
                <c:pt idx="2">
                  <c:v>16500726.334140008</c:v>
                </c:pt>
                <c:pt idx="3">
                  <c:v>19056617.417739987</c:v>
                </c:pt>
                <c:pt idx="4">
                  <c:v>21249505.249619991</c:v>
                </c:pt>
                <c:pt idx="5">
                  <c:v>18560186.908220004</c:v>
                </c:pt>
                <c:pt idx="6">
                  <c:v>11936228.626380006</c:v>
                </c:pt>
                <c:pt idx="7">
                  <c:v>18288376.109930001</c:v>
                </c:pt>
                <c:pt idx="8">
                  <c:v>15102406.337150007</c:v>
                </c:pt>
                <c:pt idx="9">
                  <c:v>10753658.460849999</c:v>
                </c:pt>
                <c:pt idx="10">
                  <c:v>9169502.2264699973</c:v>
                </c:pt>
                <c:pt idx="11">
                  <c:v>12960592.429149998</c:v>
                </c:pt>
              </c:numCache>
            </c:numRef>
          </c:val>
          <c:smooth val="0"/>
          <c:extLst>
            <c:ext xmlns:c16="http://schemas.microsoft.com/office/drawing/2014/chart" uri="{C3380CC4-5D6E-409C-BE32-E72D297353CC}">
              <c16:uniqueId val="{00000002-D446-4180-8D69-D278015E6E32}"/>
            </c:ext>
          </c:extLst>
        </c:ser>
        <c:dLbls>
          <c:dLblPos val="t"/>
          <c:showLegendKey val="0"/>
          <c:showVal val="1"/>
          <c:showCatName val="0"/>
          <c:showSerName val="0"/>
          <c:showPercent val="0"/>
          <c:showBubbleSize val="0"/>
        </c:dLbls>
        <c:dropLines>
          <c:spPr>
            <a:ln w="9525" cap="flat" cmpd="sng" algn="ctr">
              <a:solidFill>
                <a:schemeClr val="dk1">
                  <a:lumMod val="35000"/>
                  <a:lumOff val="65000"/>
                  <a:alpha val="33000"/>
                </a:schemeClr>
              </a:solidFill>
              <a:round/>
            </a:ln>
            <a:effectLst/>
          </c:spPr>
        </c:dropLines>
        <c:marker val="1"/>
        <c:smooth val="0"/>
        <c:axId val="1850048032"/>
        <c:axId val="1850062912"/>
      </c:lineChart>
      <c:catAx>
        <c:axId val="1850048032"/>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200" b="1" i="0" u="none" strike="noStrike" kern="1200" spc="20" baseline="0">
                <a:solidFill>
                  <a:sysClr val="windowText" lastClr="000000"/>
                </a:solidFill>
                <a:latin typeface="+mn-lt"/>
                <a:ea typeface="+mn-ea"/>
                <a:cs typeface="+mn-cs"/>
              </a:defRPr>
            </a:pPr>
            <a:endParaRPr lang="en-US"/>
          </a:p>
        </c:txPr>
        <c:crossAx val="1850062912"/>
        <c:crosses val="autoZero"/>
        <c:auto val="1"/>
        <c:lblAlgn val="ctr"/>
        <c:lblOffset val="100"/>
        <c:noMultiLvlLbl val="0"/>
      </c:catAx>
      <c:valAx>
        <c:axId val="185006291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spc="20" baseline="0">
                <a:solidFill>
                  <a:sysClr val="windowText" lastClr="000000"/>
                </a:solidFill>
                <a:latin typeface="+mn-lt"/>
                <a:ea typeface="+mn-ea"/>
                <a:cs typeface="+mn-cs"/>
              </a:defRPr>
            </a:pPr>
            <a:endParaRPr lang="en-US"/>
          </a:p>
        </c:txPr>
        <c:crossAx val="1850048032"/>
        <c:crosses val="autoZero"/>
        <c:crossBetween val="between"/>
      </c:valAx>
      <c:spPr>
        <a:gradFill>
          <a:gsLst>
            <a:gs pos="100000">
              <a:schemeClr val="lt1">
                <a:lumMod val="95000"/>
              </a:schemeClr>
            </a:gs>
            <a:gs pos="0">
              <a:schemeClr val="lt1"/>
            </a:gs>
          </a:gsLst>
          <a:lin ang="5400000" scaled="0"/>
        </a:gra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[Case_Study_3_Visuals.xlsx]Sales!PivotTable4</c:name>
    <c:fmtId val="102"/>
  </c:pivotSource>
  <c:chart>
    <c:title>
      <c:tx>
        <c:rich>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r>
              <a:rPr lang="en-US">
                <a:solidFill>
                  <a:sysClr val="windowText" lastClr="000000"/>
                </a:solidFill>
              </a:rPr>
              <a:t>SALES TREND BY SEASON AND SALES BUCKETS</a:t>
            </a:r>
          </a:p>
        </c:rich>
      </c:tx>
      <c:layout>
        <c:manualLayout>
          <c:xMode val="edge"/>
          <c:yMode val="edge"/>
          <c:x val="0.31685990813648296"/>
          <c:y val="3.223165158209916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title>
    <c:autoTitleDeleted val="0"/>
    <c:pivotFmts>
      <c:pivotFmt>
        <c:idx val="0"/>
        <c:spPr>
          <a:solidFill>
            <a:schemeClr val="accent2">
              <a:lumMod val="75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9525">
              <a:solidFill>
                <a:schemeClr val="accent1"/>
              </a:solidFill>
              <a:rou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tx2">
              <a:lumMod val="75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bg1">
              <a:lumMod val="75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bg1">
              <a:lumMod val="75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tx2">
              <a:lumMod val="75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bg1">
              <a:lumMod val="75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tx2">
              <a:lumMod val="75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Sales!$B$71:$B$72</c:f>
              <c:strCache>
                <c:ptCount val="1"/>
                <c:pt idx="0">
                  <c:v>Above Average Sale</c:v>
                </c:pt>
              </c:strCache>
            </c:strRef>
          </c:tx>
          <c:spPr>
            <a:solidFill>
              <a:schemeClr val="bg1">
                <a:lumMod val="75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cat>
            <c:strRef>
              <c:f>Sales!$A$73:$A$77</c:f>
              <c:strCache>
                <c:ptCount val="4"/>
                <c:pt idx="0">
                  <c:v>Autumn</c:v>
                </c:pt>
                <c:pt idx="1">
                  <c:v>Spring</c:v>
                </c:pt>
                <c:pt idx="2">
                  <c:v>Summer</c:v>
                </c:pt>
                <c:pt idx="3">
                  <c:v>Winter</c:v>
                </c:pt>
              </c:strCache>
            </c:strRef>
          </c:cat>
          <c:val>
            <c:numRef>
              <c:f>Sales!$B$73:$B$77</c:f>
              <c:numCache>
                <c:formatCode>General</c:formatCode>
                <c:ptCount val="4"/>
                <c:pt idx="0">
                  <c:v>50969102.791399986</c:v>
                </c:pt>
                <c:pt idx="1">
                  <c:v>28563164.045999996</c:v>
                </c:pt>
                <c:pt idx="2">
                  <c:v>34474453.826500006</c:v>
                </c:pt>
                <c:pt idx="3">
                  <c:v>40633594.830599993</c:v>
                </c:pt>
              </c:numCache>
            </c:numRef>
          </c:val>
          <c:extLst>
            <c:ext xmlns:c16="http://schemas.microsoft.com/office/drawing/2014/chart" uri="{C3380CC4-5D6E-409C-BE32-E72D297353CC}">
              <c16:uniqueId val="{00000000-18C3-460C-AC85-EF6CC3C69E43}"/>
            </c:ext>
          </c:extLst>
        </c:ser>
        <c:ser>
          <c:idx val="1"/>
          <c:order val="1"/>
          <c:tx>
            <c:strRef>
              <c:f>Sales!$C$71:$C$72</c:f>
              <c:strCache>
                <c:ptCount val="1"/>
                <c:pt idx="0">
                  <c:v>Average Sale</c:v>
                </c:pt>
              </c:strCache>
            </c:strRef>
          </c:tx>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cat>
            <c:strRef>
              <c:f>Sales!$A$73:$A$77</c:f>
              <c:strCache>
                <c:ptCount val="4"/>
                <c:pt idx="0">
                  <c:v>Autumn</c:v>
                </c:pt>
                <c:pt idx="1">
                  <c:v>Spring</c:v>
                </c:pt>
                <c:pt idx="2">
                  <c:v>Summer</c:v>
                </c:pt>
                <c:pt idx="3">
                  <c:v>Winter</c:v>
                </c:pt>
              </c:strCache>
            </c:strRef>
          </c:cat>
          <c:val>
            <c:numRef>
              <c:f>Sales!$C$73:$C$77</c:f>
              <c:numCache>
                <c:formatCode>General</c:formatCode>
                <c:ptCount val="4"/>
                <c:pt idx="0">
                  <c:v>3801288.6079900013</c:v>
                </c:pt>
                <c:pt idx="1">
                  <c:v>3759040.0175199998</c:v>
                </c:pt>
                <c:pt idx="2">
                  <c:v>5694774.5859100008</c:v>
                </c:pt>
                <c:pt idx="3">
                  <c:v>5455739.1935600005</c:v>
                </c:pt>
              </c:numCache>
            </c:numRef>
          </c:val>
          <c:extLst>
            <c:ext xmlns:c16="http://schemas.microsoft.com/office/drawing/2014/chart" uri="{C3380CC4-5D6E-409C-BE32-E72D297353CC}">
              <c16:uniqueId val="{00000001-18C3-460C-AC85-EF6CC3C69E43}"/>
            </c:ext>
          </c:extLst>
        </c:ser>
        <c:ser>
          <c:idx val="2"/>
          <c:order val="2"/>
          <c:tx>
            <c:strRef>
              <c:f>Sales!$D$71:$D$72</c:f>
              <c:strCache>
                <c:ptCount val="1"/>
                <c:pt idx="0">
                  <c:v>Below Average</c:v>
                </c:pt>
              </c:strCache>
            </c:strRef>
          </c:tx>
          <c:spPr>
            <a:solidFill>
              <a:schemeClr val="tx2">
                <a:lumMod val="75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cat>
            <c:strRef>
              <c:f>Sales!$A$73:$A$77</c:f>
              <c:strCache>
                <c:ptCount val="4"/>
                <c:pt idx="0">
                  <c:v>Autumn</c:v>
                </c:pt>
                <c:pt idx="1">
                  <c:v>Spring</c:v>
                </c:pt>
                <c:pt idx="2">
                  <c:v>Summer</c:v>
                </c:pt>
                <c:pt idx="3">
                  <c:v>Winter</c:v>
                </c:pt>
              </c:strCache>
            </c:strRef>
          </c:cat>
          <c:val>
            <c:numRef>
              <c:f>Sales!$D$73:$D$77</c:f>
              <c:numCache>
                <c:formatCode>General</c:formatCode>
                <c:ptCount val="4"/>
                <c:pt idx="0">
                  <c:v>2036457.6021099999</c:v>
                </c:pt>
                <c:pt idx="1">
                  <c:v>2703362.9609500011</c:v>
                </c:pt>
                <c:pt idx="2">
                  <c:v>1472700.8995099997</c:v>
                </c:pt>
                <c:pt idx="3">
                  <c:v>2695457.6203699992</c:v>
                </c:pt>
              </c:numCache>
            </c:numRef>
          </c:val>
          <c:extLst>
            <c:ext xmlns:c16="http://schemas.microsoft.com/office/drawing/2014/chart" uri="{C3380CC4-5D6E-409C-BE32-E72D297353CC}">
              <c16:uniqueId val="{00000002-18C3-460C-AC85-EF6CC3C69E43}"/>
            </c:ext>
          </c:extLst>
        </c:ser>
        <c:dLbls>
          <c:showLegendKey val="0"/>
          <c:showVal val="0"/>
          <c:showCatName val="0"/>
          <c:showSerName val="0"/>
          <c:showPercent val="0"/>
          <c:showBubbleSize val="0"/>
        </c:dLbls>
        <c:gapWidth val="150"/>
        <c:shape val="box"/>
        <c:axId val="1850080672"/>
        <c:axId val="1849976992"/>
        <c:axId val="0"/>
      </c:bar3DChart>
      <c:catAx>
        <c:axId val="1850080672"/>
        <c:scaling>
          <c:orientation val="minMax"/>
        </c:scaling>
        <c:delete val="0"/>
        <c:axPos val="l"/>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1849976992"/>
        <c:crosses val="autoZero"/>
        <c:auto val="1"/>
        <c:lblAlgn val="ctr"/>
        <c:lblOffset val="100"/>
        <c:noMultiLvlLbl val="0"/>
      </c:catAx>
      <c:valAx>
        <c:axId val="18499769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1850080672"/>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200" b="1" i="0" u="none" strike="noStrike" kern="1200" baseline="0">
                <a:solidFill>
                  <a:sysClr val="windowText" lastClr="000000"/>
                </a:solidFill>
                <a:latin typeface="Abadi" panose="020F0502020204030204" pitchFamily="34" charset="0"/>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[Case_Study_3_Visuals.xlsx]Profit &amp; Loss!PivotTable5</c:name>
    <c:fmtId val="14"/>
  </c:pivotSource>
  <c:chart>
    <c:title>
      <c:tx>
        <c:rich>
          <a:bodyPr rot="0" spcFirstLastPara="1" vertOverflow="ellipsis" vert="horz" wrap="square" anchor="ctr" anchorCtr="1"/>
          <a:lstStyle/>
          <a:p>
            <a:pPr>
              <a:defRPr sz="1400" b="1" i="0" u="none" strike="noStrike" kern="1200" cap="none" spc="20" baseline="0">
                <a:solidFill>
                  <a:sysClr val="windowText" lastClr="000000"/>
                </a:solidFill>
                <a:latin typeface="+mn-lt"/>
                <a:ea typeface="+mn-ea"/>
                <a:cs typeface="+mn-cs"/>
              </a:defRPr>
            </a:pPr>
            <a:r>
              <a:rPr lang="en-US" b="1">
                <a:solidFill>
                  <a:sysClr val="windowText" lastClr="000000"/>
                </a:solidFill>
              </a:rPr>
              <a:t>PROFIT AND LOSS TREND WHEN UNIT PRICE ABOVE OR BELOW</a:t>
            </a:r>
            <a:r>
              <a:rPr lang="en-US" b="1" baseline="0">
                <a:solidFill>
                  <a:sysClr val="windowText" lastClr="000000"/>
                </a:solidFill>
              </a:rPr>
              <a:t> UNIT COST</a:t>
            </a:r>
          </a:p>
        </c:rich>
      </c:tx>
      <c:layout>
        <c:manualLayout>
          <c:xMode val="edge"/>
          <c:yMode val="edge"/>
          <c:x val="0.24378690944881889"/>
          <c:y val="2.8278888010997993E-2"/>
        </c:manualLayout>
      </c:layout>
      <c:overlay val="0"/>
      <c:spPr>
        <a:noFill/>
        <a:ln>
          <a:noFill/>
        </a:ln>
        <a:effectLst/>
      </c:spPr>
      <c:txPr>
        <a:bodyPr rot="0" spcFirstLastPara="1" vertOverflow="ellipsis" vert="horz" wrap="square" anchor="ctr" anchorCtr="1"/>
        <a:lstStyle/>
        <a:p>
          <a:pPr>
            <a:defRPr sz="1400" b="1" i="0" u="none" strike="noStrike" kern="1200" cap="none" spc="20" baseline="0">
              <a:solidFill>
                <a:sysClr val="windowText" lastClr="000000"/>
              </a:solidFill>
              <a:latin typeface="+mn-lt"/>
              <a:ea typeface="+mn-ea"/>
              <a:cs typeface="+mn-cs"/>
            </a:defRPr>
          </a:pPr>
          <a:endParaRPr lang="en-US"/>
        </a:p>
      </c:txPr>
    </c:title>
    <c:autoTitleDeleted val="0"/>
    <c:pivotFmts>
      <c:pivotFmt>
        <c:idx val="0"/>
        <c:spPr>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chemeClr>
            </a:solidFill>
            <a:round/>
          </a:ln>
          <a:effectLst>
            <a:outerShdw blurRad="40000" dist="20000" dir="5400000" rotWithShape="0">
              <a:srgbClr val="000000">
                <a:alpha val="38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chemeClr>
            </a:solidFill>
            <a:round/>
          </a:ln>
          <a:effectLst>
            <a:outerShdw blurRad="40000" dist="20000" dir="5400000" rotWithShape="0">
              <a:srgbClr val="000000">
                <a:alpha val="38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chemeClr>
            </a:solidFill>
            <a:round/>
          </a:ln>
          <a:effectLst>
            <a:outerShdw blurRad="40000" dist="20000" dir="5400000" rotWithShape="0">
              <a:srgbClr val="000000">
                <a:alpha val="38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chemeClr>
            </a:solidFill>
            <a:round/>
          </a:ln>
          <a:effectLst>
            <a:outerShdw blurRad="40000" dist="20000" dir="5400000" rotWithShape="0">
              <a:srgbClr val="000000">
                <a:alpha val="38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chemeClr>
            </a:solidFill>
            <a:round/>
          </a:ln>
          <a:effectLst>
            <a:outerShdw blurRad="40000" dist="20000" dir="5400000" rotWithShape="0">
              <a:srgbClr val="000000">
                <a:alpha val="38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chemeClr>
            </a:solidFill>
            <a:round/>
          </a:ln>
          <a:effectLst>
            <a:outerShdw blurRad="40000" dist="20000" dir="5400000" rotWithShape="0">
              <a:srgbClr val="000000">
                <a:alpha val="38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'Profit &amp; Loss'!$B$3:$B$4</c:f>
              <c:strCache>
                <c:ptCount val="1"/>
                <c:pt idx="0">
                  <c:v>Above Normal Price</c:v>
                </c:pt>
              </c:strCache>
            </c:strRef>
          </c:tx>
          <c:spPr>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chemeClr>
              </a:solidFill>
              <a:round/>
            </a:ln>
            <a:effectLst>
              <a:outerShdw blurRad="40000" dist="20000" dir="5400000" rotWithShape="0">
                <a:srgbClr val="000000">
                  <a:alpha val="38000"/>
                </a:srgbClr>
              </a:outerShdw>
            </a:effectLst>
          </c:spPr>
          <c:invertIfNegative val="0"/>
          <c:cat>
            <c:strRef>
              <c:f>'Profit &amp; Loss'!$A$5:$A$12</c:f>
              <c:strCache>
                <c:ptCount val="7"/>
                <c:pt idx="0">
                  <c:v>Sun</c:v>
                </c:pt>
                <c:pt idx="1">
                  <c:v>Mon</c:v>
                </c:pt>
                <c:pt idx="2">
                  <c:v>Tue</c:v>
                </c:pt>
                <c:pt idx="3">
                  <c:v>Wed</c:v>
                </c:pt>
                <c:pt idx="4">
                  <c:v>Thu</c:v>
                </c:pt>
                <c:pt idx="5">
                  <c:v>Fri</c:v>
                </c:pt>
                <c:pt idx="6">
                  <c:v>Sat</c:v>
                </c:pt>
              </c:strCache>
            </c:strRef>
          </c:cat>
          <c:val>
            <c:numRef>
              <c:f>'Profit &amp; Loss'!$B$5:$B$12</c:f>
              <c:numCache>
                <c:formatCode>General</c:formatCode>
                <c:ptCount val="7"/>
                <c:pt idx="0">
                  <c:v>-808592.12108000007</c:v>
                </c:pt>
                <c:pt idx="1">
                  <c:v>-825512.44534000021</c:v>
                </c:pt>
                <c:pt idx="2">
                  <c:v>-748352.50259000016</c:v>
                </c:pt>
                <c:pt idx="3">
                  <c:v>-935903.50192000018</c:v>
                </c:pt>
                <c:pt idx="4">
                  <c:v>-807983.24418000004</c:v>
                </c:pt>
                <c:pt idx="5">
                  <c:v>-1481114.4735699999</c:v>
                </c:pt>
                <c:pt idx="6">
                  <c:v>-1858107.3698899997</c:v>
                </c:pt>
              </c:numCache>
            </c:numRef>
          </c:val>
          <c:extLst>
            <c:ext xmlns:c16="http://schemas.microsoft.com/office/drawing/2014/chart" uri="{C3380CC4-5D6E-409C-BE32-E72D297353CC}">
              <c16:uniqueId val="{00000000-3C29-46C4-90FD-D7BAF91B8177}"/>
            </c:ext>
          </c:extLst>
        </c:ser>
        <c:ser>
          <c:idx val="1"/>
          <c:order val="1"/>
          <c:tx>
            <c:strRef>
              <c:f>'Profit &amp; Loss'!$C$3:$C$4</c:f>
              <c:strCache>
                <c:ptCount val="1"/>
                <c:pt idx="0">
                  <c:v>On Promotion</c:v>
                </c:pt>
              </c:strCache>
            </c:strRef>
          </c:tx>
          <c:spPr>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chemeClr>
              </a:solidFill>
              <a:round/>
            </a:ln>
            <a:effectLst>
              <a:outerShdw blurRad="40000" dist="20000" dir="5400000" rotWithShape="0">
                <a:srgbClr val="000000">
                  <a:alpha val="38000"/>
                </a:srgbClr>
              </a:outerShdw>
            </a:effectLst>
          </c:spPr>
          <c:invertIfNegative val="0"/>
          <c:cat>
            <c:strRef>
              <c:f>'Profit &amp; Loss'!$A$5:$A$12</c:f>
              <c:strCache>
                <c:ptCount val="7"/>
                <c:pt idx="0">
                  <c:v>Sun</c:v>
                </c:pt>
                <c:pt idx="1">
                  <c:v>Mon</c:v>
                </c:pt>
                <c:pt idx="2">
                  <c:v>Tue</c:v>
                </c:pt>
                <c:pt idx="3">
                  <c:v>Wed</c:v>
                </c:pt>
                <c:pt idx="4">
                  <c:v>Thu</c:v>
                </c:pt>
                <c:pt idx="5">
                  <c:v>Fri</c:v>
                </c:pt>
                <c:pt idx="6">
                  <c:v>Sat</c:v>
                </c:pt>
              </c:strCache>
            </c:strRef>
          </c:cat>
          <c:val>
            <c:numRef>
              <c:f>'Profit &amp; Loss'!$C$5:$C$12</c:f>
              <c:numCache>
                <c:formatCode>General</c:formatCode>
                <c:ptCount val="7"/>
                <c:pt idx="0">
                  <c:v>-2261.0515999999998</c:v>
                </c:pt>
                <c:pt idx="1">
                  <c:v>-3445.9413999999997</c:v>
                </c:pt>
                <c:pt idx="2">
                  <c:v>-423.10426999999981</c:v>
                </c:pt>
                <c:pt idx="3">
                  <c:v>-5675.6533799999997</c:v>
                </c:pt>
                <c:pt idx="4">
                  <c:v>298.09870000000001</c:v>
                </c:pt>
                <c:pt idx="5">
                  <c:v>-4173.4710999999998</c:v>
                </c:pt>
                <c:pt idx="6">
                  <c:v>-10899.048699999999</c:v>
                </c:pt>
              </c:numCache>
            </c:numRef>
          </c:val>
          <c:extLst>
            <c:ext xmlns:c16="http://schemas.microsoft.com/office/drawing/2014/chart" uri="{C3380CC4-5D6E-409C-BE32-E72D297353CC}">
              <c16:uniqueId val="{00000001-3C29-46C4-90FD-D7BAF91B8177}"/>
            </c:ext>
          </c:extLst>
        </c:ser>
        <c:dLbls>
          <c:showLegendKey val="0"/>
          <c:showVal val="0"/>
          <c:showCatName val="0"/>
          <c:showSerName val="0"/>
          <c:showPercent val="0"/>
          <c:showBubbleSize val="0"/>
        </c:dLbls>
        <c:gapWidth val="150"/>
        <c:axId val="1886504048"/>
        <c:axId val="1886521808"/>
      </c:barChart>
      <c:catAx>
        <c:axId val="1886504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n-US"/>
          </a:p>
        </c:txPr>
        <c:crossAx val="1886521808"/>
        <c:crosses val="autoZero"/>
        <c:auto val="1"/>
        <c:lblAlgn val="ctr"/>
        <c:lblOffset val="100"/>
        <c:noMultiLvlLbl val="0"/>
      </c:catAx>
      <c:valAx>
        <c:axId val="18865218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1886504048"/>
        <c:crosses val="autoZero"/>
        <c:crossBetween val="between"/>
      </c:valAx>
      <c:spPr>
        <a:noFill/>
        <a:ln>
          <a:noFill/>
        </a:ln>
        <a:effectLst/>
      </c:spPr>
    </c:plotArea>
    <c:legend>
      <c:legendPos val="r"/>
      <c:layout>
        <c:manualLayout>
          <c:xMode val="edge"/>
          <c:yMode val="edge"/>
          <c:x val="0.86709637467191603"/>
          <c:y val="0.43161275910995645"/>
          <c:w val="0.1313035597112861"/>
          <c:h val="0.1896111035272369"/>
        </c:manualLayout>
      </c:layout>
      <c:overlay val="0"/>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[Case_Study_3_Visuals.xlsx]Sales VS Cost of Sales!PivotTable6</c:name>
    <c:fmtId val="16"/>
  </c:pivotSource>
  <c:chart>
    <c:title>
      <c:tx>
        <c:rich>
          <a:bodyPr rot="0" spcFirstLastPara="1" vertOverflow="ellipsis" vert="horz" wrap="square" anchor="ctr" anchorCtr="1"/>
          <a:lstStyle/>
          <a:p>
            <a:pPr>
              <a:defRPr sz="1400" b="1" i="0" u="none" strike="noStrike" kern="1200" spc="0" baseline="0">
                <a:solidFill>
                  <a:sysClr val="windowText" lastClr="000000"/>
                </a:solidFill>
                <a:latin typeface="+mn-lt"/>
                <a:ea typeface="+mn-ea"/>
                <a:cs typeface="+mn-cs"/>
              </a:defRPr>
            </a:pPr>
            <a:r>
              <a:rPr lang="en-US" b="1">
                <a:solidFill>
                  <a:sysClr val="windowText" lastClr="000000"/>
                </a:solidFill>
              </a:rPr>
              <a:t>SALES VS COST OF SALES</a:t>
            </a:r>
          </a:p>
        </c:rich>
      </c:tx>
      <c:layout>
        <c:manualLayout>
          <c:xMode val="edge"/>
          <c:yMode val="edge"/>
          <c:x val="0.21896522309711286"/>
          <c:y val="4.0402900455265144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ysClr val="windowText" lastClr="000000"/>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circle"/>
          <c:size val="5"/>
          <c:spPr>
            <a:solidFill>
              <a:schemeClr val="accent1">
                <a:lumMod val="50000"/>
              </a:schemeClr>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circle"/>
          <c:size val="5"/>
          <c:spPr>
            <a:solidFill>
              <a:srgbClr val="FF0000"/>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circle"/>
          <c:size val="5"/>
          <c:spPr>
            <a:solidFill>
              <a:schemeClr val="accent1">
                <a:lumMod val="50000"/>
              </a:schemeClr>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circle"/>
          <c:size val="5"/>
          <c:spPr>
            <a:solidFill>
              <a:srgbClr val="FF0000"/>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circle"/>
          <c:size val="5"/>
          <c:spPr>
            <a:solidFill>
              <a:schemeClr val="accent1">
                <a:lumMod val="50000"/>
              </a:schemeClr>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circle"/>
          <c:size val="5"/>
          <c:spPr>
            <a:solidFill>
              <a:srgbClr val="FF0000"/>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'Sales VS Cost of Sales'!$B$3</c:f>
              <c:strCache>
                <c:ptCount val="1"/>
                <c:pt idx="0">
                  <c:v>Sum of SALES</c:v>
                </c:pt>
              </c:strCache>
            </c:strRef>
          </c:tx>
          <c:spPr>
            <a:ln w="28575" cap="rnd">
              <a:solidFill>
                <a:schemeClr val="accent1"/>
              </a:solidFill>
              <a:round/>
            </a:ln>
            <a:effectLst/>
          </c:spPr>
          <c:marker>
            <c:symbol val="circle"/>
            <c:size val="5"/>
            <c:spPr>
              <a:solidFill>
                <a:schemeClr val="accent1">
                  <a:lumMod val="50000"/>
                </a:schemeClr>
              </a:solidFill>
              <a:ln w="9525">
                <a:solidFill>
                  <a:schemeClr val="accent1"/>
                </a:solidFill>
              </a:ln>
              <a:effectLst/>
            </c:spPr>
          </c:marker>
          <c:cat>
            <c:strRef>
              <c:f>'Sales VS Cost of Sales'!$A$4:$A$11</c:f>
              <c:strCache>
                <c:ptCount val="7"/>
                <c:pt idx="0">
                  <c:v>Sun</c:v>
                </c:pt>
                <c:pt idx="1">
                  <c:v>Mon</c:v>
                </c:pt>
                <c:pt idx="2">
                  <c:v>Tue</c:v>
                </c:pt>
                <c:pt idx="3">
                  <c:v>Wed</c:v>
                </c:pt>
                <c:pt idx="4">
                  <c:v>Thu</c:v>
                </c:pt>
                <c:pt idx="5">
                  <c:v>Fri</c:v>
                </c:pt>
                <c:pt idx="6">
                  <c:v>Sat</c:v>
                </c:pt>
              </c:strCache>
            </c:strRef>
          </c:cat>
          <c:val>
            <c:numRef>
              <c:f>'Sales VS Cost of Sales'!$B$4:$B$11</c:f>
              <c:numCache>
                <c:formatCode>General</c:formatCode>
                <c:ptCount val="7"/>
                <c:pt idx="0">
                  <c:v>20096877.789770007</c:v>
                </c:pt>
                <c:pt idx="1">
                  <c:v>22974511.613169998</c:v>
                </c:pt>
                <c:pt idx="2">
                  <c:v>20108569.521029998</c:v>
                </c:pt>
                <c:pt idx="3">
                  <c:v>21504195.758349996</c:v>
                </c:pt>
                <c:pt idx="4">
                  <c:v>20752189.136840004</c:v>
                </c:pt>
                <c:pt idx="5">
                  <c:v>35956072.621159986</c:v>
                </c:pt>
                <c:pt idx="6">
                  <c:v>40866720.542099983</c:v>
                </c:pt>
              </c:numCache>
            </c:numRef>
          </c:val>
          <c:smooth val="0"/>
          <c:extLst>
            <c:ext xmlns:c16="http://schemas.microsoft.com/office/drawing/2014/chart" uri="{C3380CC4-5D6E-409C-BE32-E72D297353CC}">
              <c16:uniqueId val="{00000000-E847-405B-9CFD-5A2123CD2606}"/>
            </c:ext>
          </c:extLst>
        </c:ser>
        <c:ser>
          <c:idx val="1"/>
          <c:order val="1"/>
          <c:tx>
            <c:strRef>
              <c:f>'Sales VS Cost of Sales'!$C$3</c:f>
              <c:strCache>
                <c:ptCount val="1"/>
                <c:pt idx="0">
                  <c:v>Sum of COST_OF_SALES</c:v>
                </c:pt>
              </c:strCache>
            </c:strRef>
          </c:tx>
          <c:spPr>
            <a:ln w="28575" cap="rnd">
              <a:solidFill>
                <a:schemeClr val="accent2"/>
              </a:solidFill>
              <a:round/>
            </a:ln>
            <a:effectLst/>
          </c:spPr>
          <c:marker>
            <c:symbol val="circle"/>
            <c:size val="5"/>
            <c:spPr>
              <a:solidFill>
                <a:srgbClr val="FF0000"/>
              </a:solidFill>
              <a:ln w="9525">
                <a:solidFill>
                  <a:schemeClr val="accent2"/>
                </a:solidFill>
              </a:ln>
              <a:effectLst/>
            </c:spPr>
          </c:marker>
          <c:cat>
            <c:strRef>
              <c:f>'Sales VS Cost of Sales'!$A$4:$A$11</c:f>
              <c:strCache>
                <c:ptCount val="7"/>
                <c:pt idx="0">
                  <c:v>Sun</c:v>
                </c:pt>
                <c:pt idx="1">
                  <c:v>Mon</c:v>
                </c:pt>
                <c:pt idx="2">
                  <c:v>Tue</c:v>
                </c:pt>
                <c:pt idx="3">
                  <c:v>Wed</c:v>
                </c:pt>
                <c:pt idx="4">
                  <c:v>Thu</c:v>
                </c:pt>
                <c:pt idx="5">
                  <c:v>Fri</c:v>
                </c:pt>
                <c:pt idx="6">
                  <c:v>Sat</c:v>
                </c:pt>
              </c:strCache>
            </c:strRef>
          </c:cat>
          <c:val>
            <c:numRef>
              <c:f>'Sales VS Cost of Sales'!$C$4:$C$11</c:f>
              <c:numCache>
                <c:formatCode>General</c:formatCode>
                <c:ptCount val="7"/>
                <c:pt idx="0">
                  <c:v>20907730.962450016</c:v>
                </c:pt>
                <c:pt idx="1">
                  <c:v>23803469.999910016</c:v>
                </c:pt>
                <c:pt idx="2">
                  <c:v>20857345.127889987</c:v>
                </c:pt>
                <c:pt idx="3">
                  <c:v>22445774.913649995</c:v>
                </c:pt>
                <c:pt idx="4">
                  <c:v>21559874.282320011</c:v>
                </c:pt>
                <c:pt idx="5">
                  <c:v>37441360.56583</c:v>
                </c:pt>
                <c:pt idx="6">
                  <c:v>42735726.960689992</c:v>
                </c:pt>
              </c:numCache>
            </c:numRef>
          </c:val>
          <c:smooth val="0"/>
          <c:extLst>
            <c:ext xmlns:c16="http://schemas.microsoft.com/office/drawing/2014/chart" uri="{C3380CC4-5D6E-409C-BE32-E72D297353CC}">
              <c16:uniqueId val="{00000001-E847-405B-9CFD-5A2123CD2606}"/>
            </c:ext>
          </c:extLst>
        </c:ser>
        <c:dLbls>
          <c:showLegendKey val="0"/>
          <c:showVal val="0"/>
          <c:showCatName val="0"/>
          <c:showSerName val="0"/>
          <c:showPercent val="0"/>
          <c:showBubbleSize val="0"/>
        </c:dLbls>
        <c:marker val="1"/>
        <c:smooth val="0"/>
        <c:axId val="1886506448"/>
        <c:axId val="1886508368"/>
      </c:lineChart>
      <c:catAx>
        <c:axId val="18865064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1886508368"/>
        <c:crosses val="autoZero"/>
        <c:auto val="1"/>
        <c:lblAlgn val="ctr"/>
        <c:lblOffset val="100"/>
        <c:noMultiLvlLbl val="0"/>
      </c:catAx>
      <c:valAx>
        <c:axId val="188650836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1886506448"/>
        <c:crosses val="autoZero"/>
        <c:crossBetween val="between"/>
      </c:valAx>
      <c:spPr>
        <a:noFill/>
        <a:ln>
          <a:noFill/>
        </a:ln>
        <a:effectLst/>
      </c:spPr>
    </c:plotArea>
    <c:legend>
      <c:legendPos val="r"/>
      <c:layout>
        <c:manualLayout>
          <c:xMode val="edge"/>
          <c:yMode val="edge"/>
          <c:x val="0.68426334208223971"/>
          <c:y val="5.1523767862350564E-3"/>
          <c:w val="0.29906999125109363"/>
          <c:h val="0.20307487605715951"/>
        </c:manualLayout>
      </c:layout>
      <c:overlay val="0"/>
      <c:spPr>
        <a:noFill/>
        <a:ln>
          <a:noFill/>
        </a:ln>
        <a:effectLst/>
      </c:spPr>
      <c:txPr>
        <a:bodyPr rot="0" spcFirstLastPara="1" vertOverflow="ellipsis" vert="horz" wrap="square" anchor="ctr" anchorCtr="1"/>
        <a:lstStyle/>
        <a:p>
          <a:pPr>
            <a:defRPr sz="10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[Case_Study_3_Visuals.xlsx]Sales VS Cost of Sales!PivotTable6</c:name>
    <c:fmtId val="19"/>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lumMod val="50000"/>
            </a:schemeClr>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rgbClr val="FF0000"/>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lumMod val="50000"/>
            </a:schemeClr>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rgbClr val="FF0000"/>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lumMod val="50000"/>
            </a:schemeClr>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rgbClr val="FF0000"/>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'Sales VS Cost of Sales'!$B$3</c:f>
              <c:strCache>
                <c:ptCount val="1"/>
                <c:pt idx="0">
                  <c:v>Sum of SALES</c:v>
                </c:pt>
              </c:strCache>
            </c:strRef>
          </c:tx>
          <c:spPr>
            <a:solidFill>
              <a:schemeClr val="accent1">
                <a:lumMod val="50000"/>
              </a:schemeClr>
            </a:solidFill>
            <a:ln>
              <a:noFill/>
            </a:ln>
            <a:effectLst/>
            <a:sp3d/>
          </c:spPr>
          <c:invertIfNegative val="0"/>
          <c:cat>
            <c:strRef>
              <c:f>'Sales VS Cost of Sales'!$A$4:$A$11</c:f>
              <c:strCache>
                <c:ptCount val="7"/>
                <c:pt idx="0">
                  <c:v>Sun</c:v>
                </c:pt>
                <c:pt idx="1">
                  <c:v>Mon</c:v>
                </c:pt>
                <c:pt idx="2">
                  <c:v>Tue</c:v>
                </c:pt>
                <c:pt idx="3">
                  <c:v>Wed</c:v>
                </c:pt>
                <c:pt idx="4">
                  <c:v>Thu</c:v>
                </c:pt>
                <c:pt idx="5">
                  <c:v>Fri</c:v>
                </c:pt>
                <c:pt idx="6">
                  <c:v>Sat</c:v>
                </c:pt>
              </c:strCache>
            </c:strRef>
          </c:cat>
          <c:val>
            <c:numRef>
              <c:f>'Sales VS Cost of Sales'!$B$4:$B$11</c:f>
              <c:numCache>
                <c:formatCode>General</c:formatCode>
                <c:ptCount val="7"/>
                <c:pt idx="0">
                  <c:v>20096877.789770007</c:v>
                </c:pt>
                <c:pt idx="1">
                  <c:v>22974511.613169998</c:v>
                </c:pt>
                <c:pt idx="2">
                  <c:v>20108569.521029998</c:v>
                </c:pt>
                <c:pt idx="3">
                  <c:v>21504195.758349996</c:v>
                </c:pt>
                <c:pt idx="4">
                  <c:v>20752189.136840004</c:v>
                </c:pt>
                <c:pt idx="5">
                  <c:v>35956072.621159986</c:v>
                </c:pt>
                <c:pt idx="6">
                  <c:v>40866720.542099983</c:v>
                </c:pt>
              </c:numCache>
            </c:numRef>
          </c:val>
          <c:extLst>
            <c:ext xmlns:c16="http://schemas.microsoft.com/office/drawing/2014/chart" uri="{C3380CC4-5D6E-409C-BE32-E72D297353CC}">
              <c16:uniqueId val="{00000000-20AF-4C73-A20E-794D1ED23058}"/>
            </c:ext>
          </c:extLst>
        </c:ser>
        <c:ser>
          <c:idx val="1"/>
          <c:order val="1"/>
          <c:tx>
            <c:strRef>
              <c:f>'Sales VS Cost of Sales'!$C$3</c:f>
              <c:strCache>
                <c:ptCount val="1"/>
                <c:pt idx="0">
                  <c:v>Sum of COST_OF_SALES</c:v>
                </c:pt>
              </c:strCache>
            </c:strRef>
          </c:tx>
          <c:spPr>
            <a:solidFill>
              <a:srgbClr val="FF0000"/>
            </a:solidFill>
            <a:ln>
              <a:noFill/>
            </a:ln>
            <a:effectLst/>
            <a:sp3d/>
          </c:spPr>
          <c:invertIfNegative val="0"/>
          <c:cat>
            <c:strRef>
              <c:f>'Sales VS Cost of Sales'!$A$4:$A$11</c:f>
              <c:strCache>
                <c:ptCount val="7"/>
                <c:pt idx="0">
                  <c:v>Sun</c:v>
                </c:pt>
                <c:pt idx="1">
                  <c:v>Mon</c:v>
                </c:pt>
                <c:pt idx="2">
                  <c:v>Tue</c:v>
                </c:pt>
                <c:pt idx="3">
                  <c:v>Wed</c:v>
                </c:pt>
                <c:pt idx="4">
                  <c:v>Thu</c:v>
                </c:pt>
                <c:pt idx="5">
                  <c:v>Fri</c:v>
                </c:pt>
                <c:pt idx="6">
                  <c:v>Sat</c:v>
                </c:pt>
              </c:strCache>
            </c:strRef>
          </c:cat>
          <c:val>
            <c:numRef>
              <c:f>'Sales VS Cost of Sales'!$C$4:$C$11</c:f>
              <c:numCache>
                <c:formatCode>General</c:formatCode>
                <c:ptCount val="7"/>
                <c:pt idx="0">
                  <c:v>20907730.962450016</c:v>
                </c:pt>
                <c:pt idx="1">
                  <c:v>23803469.999910016</c:v>
                </c:pt>
                <c:pt idx="2">
                  <c:v>20857345.127889987</c:v>
                </c:pt>
                <c:pt idx="3">
                  <c:v>22445774.913649995</c:v>
                </c:pt>
                <c:pt idx="4">
                  <c:v>21559874.282320011</c:v>
                </c:pt>
                <c:pt idx="5">
                  <c:v>37441360.56583</c:v>
                </c:pt>
                <c:pt idx="6">
                  <c:v>42735726.960689992</c:v>
                </c:pt>
              </c:numCache>
            </c:numRef>
          </c:val>
          <c:extLst>
            <c:ext xmlns:c16="http://schemas.microsoft.com/office/drawing/2014/chart" uri="{C3380CC4-5D6E-409C-BE32-E72D297353CC}">
              <c16:uniqueId val="{00000001-20AF-4C73-A20E-794D1ED23058}"/>
            </c:ext>
          </c:extLst>
        </c:ser>
        <c:dLbls>
          <c:showLegendKey val="0"/>
          <c:showVal val="0"/>
          <c:showCatName val="0"/>
          <c:showSerName val="0"/>
          <c:showPercent val="0"/>
          <c:showBubbleSize val="0"/>
        </c:dLbls>
        <c:gapWidth val="150"/>
        <c:shape val="box"/>
        <c:axId val="1886506448"/>
        <c:axId val="1886508368"/>
        <c:axId val="0"/>
      </c:bar3DChart>
      <c:catAx>
        <c:axId val="18865064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1886508368"/>
        <c:crosses val="autoZero"/>
        <c:auto val="1"/>
        <c:lblAlgn val="ctr"/>
        <c:lblOffset val="100"/>
        <c:noMultiLvlLbl val="0"/>
      </c:catAx>
      <c:valAx>
        <c:axId val="188650836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1886506448"/>
        <c:crosses val="autoZero"/>
        <c:crossBetween val="between"/>
      </c:valAx>
      <c:spPr>
        <a:noFill/>
        <a:ln>
          <a:noFill/>
        </a:ln>
        <a:effectLst/>
      </c:spPr>
    </c:plotArea>
    <c:legend>
      <c:legendPos val="r"/>
      <c:layout>
        <c:manualLayout>
          <c:xMode val="edge"/>
          <c:yMode val="edge"/>
          <c:x val="0.69167497812773415"/>
          <c:y val="1.7870734908136482E-2"/>
          <c:w val="0.26514916885389328"/>
          <c:h val="0.21233413531641879"/>
        </c:manualLayout>
      </c:layout>
      <c:overlay val="0"/>
      <c:spPr>
        <a:noFill/>
        <a:ln>
          <a:noFill/>
        </a:ln>
        <a:effectLst/>
      </c:spPr>
      <c:txPr>
        <a:bodyPr rot="0" spcFirstLastPara="1" vertOverflow="ellipsis" vert="horz" wrap="square" anchor="ctr" anchorCtr="1"/>
        <a:lstStyle/>
        <a:p>
          <a:pPr>
            <a:defRPr sz="10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 id="18">
  <a:schemeClr val="accent5"/>
</cs:colorStyle>
</file>

<file path=ppt/charts/colors2.xml><?xml version="1.0" encoding="utf-8"?>
<cs:colorStyle xmlns:cs="http://schemas.microsoft.com/office/drawing/2012/chartStyle" xmlns:a="http://schemas.openxmlformats.org/drawingml/2006/main" meth="withinLinear" id="18">
  <a:schemeClr val="accent5"/>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7">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3175" cap="flat" cmpd="sng" algn="ctr">
        <a:solidFill>
          <a:schemeClr val="tx1">
            <a:lumMod val="15000"/>
            <a:lumOff val="85000"/>
          </a:schemeClr>
        </a:solidFill>
        <a:round/>
        <a:tailEnd type="none" w="med" len="lg"/>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38100" cap="flat" cmpd="dbl" algn="ctr">
        <a:solidFill>
          <a:schemeClr val="phClr"/>
        </a:solidFill>
        <a:miter lim="800000"/>
      </a:ln>
    </cs:spPr>
  </cs:dataPointLine>
  <cs:dataPointMarker>
    <cs:lnRef idx="0">
      <cs:styleClr val="auto"/>
    </cs:lnRef>
    <cs:fillRef idx="0">
      <cs:styleClr val="auto"/>
    </cs:fillRef>
    <cs:effectRef idx="0"/>
    <cs:fontRef idx="minor">
      <a:schemeClr val="tx1"/>
    </cs:fontRef>
    <cs:spPr>
      <a:solidFill>
        <a:schemeClr val="phClr"/>
      </a:solidFill>
      <a:ln w="9525" cap="flat" cmpd="sng" algn="ctr">
        <a:solidFill>
          <a:schemeClr val="lt1"/>
        </a:solidFill>
        <a:round/>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tx1"/>
    </cs:fontRef>
    <cs:spPr>
      <a:ln w="9525">
        <a:solidFill>
          <a:schemeClr val="tx1">
            <a:lumMod val="35000"/>
            <a:lumOff val="65000"/>
          </a:schemeClr>
        </a:solidFill>
      </a:ln>
    </cs:spPr>
  </cs:dropLine>
  <cs:errorBar>
    <cs:lnRef idx="0"/>
    <cs:fillRef idx="0"/>
    <cs:effectRef idx="0"/>
    <cs:fontRef idx="minor">
      <a:schemeClr val="tx1"/>
    </cs:fontRef>
    <cs:spPr>
      <a:ln w="9525">
        <a:solidFill>
          <a:schemeClr val="tx1">
            <a:lumMod val="65000"/>
            <a:lumOff val="35000"/>
          </a:schemeClr>
        </a:solidFill>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alpha val="32000"/>
          </a:schemeClr>
        </a:solidFill>
        <a:round/>
      </a:ln>
    </cs:spPr>
  </cs:gridlineMajor>
  <cs:gridlineMinor>
    <cs:lnRef idx="0"/>
    <cs:fillRef idx="0"/>
    <cs:effectRef idx="0"/>
    <cs:fontRef idx="minor">
      <a:schemeClr val="tx1"/>
    </cs:fontRef>
    <cs:spPr>
      <a:ln>
        <a:solidFill>
          <a:schemeClr val="tx1">
            <a:lumMod val="5000"/>
            <a:lumOff val="95000"/>
            <a:alpha val="32000"/>
          </a:schemeClr>
        </a:solidFill>
      </a:ln>
    </cs:spPr>
  </cs:gridlineMinor>
  <cs:hiLoLine>
    <cs:lnRef idx="0"/>
    <cs:fillRef idx="0"/>
    <cs:effectRef idx="0"/>
    <cs:fontRef idx="minor">
      <a:schemeClr val="tx1"/>
    </cs:fontRef>
    <cs:spPr>
      <a:ln w="9525">
        <a:solidFill>
          <a:schemeClr val="tx1"/>
        </a:solidFill>
      </a:ln>
    </cs:spPr>
  </cs:hiLoLine>
  <cs:leaderLine>
    <cs:lnRef idx="0"/>
    <cs:fillRef idx="0"/>
    <cs:effectRef idx="0"/>
    <cs:fontRef idx="minor">
      <a:schemeClr val="tx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cs:fontRef>
    <cs:spPr>
      <a:ln w="3175" cap="flat" cmpd="sng" algn="ctr">
        <a:solidFill>
          <a:schemeClr val="tx1">
            <a:lumMod val="15000"/>
            <a:lumOff val="85000"/>
          </a:schemeClr>
        </a:solidFill>
        <a:round/>
        <a:tailEnd type="none" w="med" len="lg"/>
      </a:ln>
    </cs:spPr>
    <cs:defRPr sz="900" kern="1200"/>
  </cs:seriesAxis>
  <cs:seriesLine>
    <cs:lnRef idx="0"/>
    <cs:fillRef idx="0"/>
    <cs:effectRef idx="0"/>
    <cs:fontRef idx="minor">
      <a:schemeClr val="tx1"/>
    </cs:fontRef>
    <cs:spPr>
      <a:ln w="9525">
        <a:solidFill>
          <a:schemeClr val="tx1">
            <a:lumMod val="35000"/>
            <a:lumOff val="65000"/>
          </a:schemeClr>
        </a:solidFill>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tx1"/>
    </cs:fontRef>
    <cs:spPr>
      <a:ln w="12700" cap="rnd"/>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3175" cap="flat" cmpd="sng" algn="ctr">
        <a:solidFill>
          <a:schemeClr val="tx1">
            <a:lumMod val="15000"/>
            <a:lumOff val="85000"/>
          </a:schemeClr>
        </a:solidFill>
        <a:round/>
        <a:tailEnd type="none" w="med" len="lg"/>
      </a:ln>
    </cs:spPr>
    <cs:defRPr sz="9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900"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65000"/>
        <a:lumOff val="3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400"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900" kern="1200" spc="20" baseline="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347">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301">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69590-4122-D3CB-BDCD-BFCCC596D8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569C314C-DD6C-CF21-EF94-F48BC2A472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5B47D544-8B79-D93C-38F1-AFC2D2A393D6}"/>
              </a:ext>
            </a:extLst>
          </p:cNvPr>
          <p:cNvSpPr>
            <a:spLocks noGrp="1"/>
          </p:cNvSpPr>
          <p:nvPr>
            <p:ph type="dt" sz="half" idx="10"/>
          </p:nvPr>
        </p:nvSpPr>
        <p:spPr/>
        <p:txBody>
          <a:bodyPr/>
          <a:lstStyle/>
          <a:p>
            <a:fld id="{B8BE4E1F-A892-4AC7-9D8B-4AF25EECB31E}" type="datetimeFigureOut">
              <a:rPr lang="en-ZA" smtClean="0"/>
              <a:t>2025/11/23</a:t>
            </a:fld>
            <a:endParaRPr lang="en-ZA"/>
          </a:p>
        </p:txBody>
      </p:sp>
      <p:sp>
        <p:nvSpPr>
          <p:cNvPr id="5" name="Footer Placeholder 4">
            <a:extLst>
              <a:ext uri="{FF2B5EF4-FFF2-40B4-BE49-F238E27FC236}">
                <a16:creationId xmlns:a16="http://schemas.microsoft.com/office/drawing/2014/main" id="{4BD7F4DB-40CA-684D-EA36-F4FE3021939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30639E41-333D-AEBB-71F7-E04F93FD64A9}"/>
              </a:ext>
            </a:extLst>
          </p:cNvPr>
          <p:cNvSpPr>
            <a:spLocks noGrp="1"/>
          </p:cNvSpPr>
          <p:nvPr>
            <p:ph type="sldNum" sz="quarter" idx="12"/>
          </p:nvPr>
        </p:nvSpPr>
        <p:spPr/>
        <p:txBody>
          <a:bodyPr/>
          <a:lstStyle/>
          <a:p>
            <a:fld id="{6905A11B-1FCB-4EAB-B72F-DC10CE69EC81}" type="slidenum">
              <a:rPr lang="en-ZA" smtClean="0"/>
              <a:t>‹#›</a:t>
            </a:fld>
            <a:endParaRPr lang="en-ZA"/>
          </a:p>
        </p:txBody>
      </p:sp>
    </p:spTree>
    <p:extLst>
      <p:ext uri="{BB962C8B-B14F-4D97-AF65-F5344CB8AC3E}">
        <p14:creationId xmlns:p14="http://schemas.microsoft.com/office/powerpoint/2010/main" val="1116499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5ED1B-63F0-888C-3B5B-EB0B3407BA6C}"/>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2A4695A3-B7F6-8AA9-C745-B39C10B12D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57BA51B4-FE1A-A558-84A9-79C588E48039}"/>
              </a:ext>
            </a:extLst>
          </p:cNvPr>
          <p:cNvSpPr>
            <a:spLocks noGrp="1"/>
          </p:cNvSpPr>
          <p:nvPr>
            <p:ph type="dt" sz="half" idx="10"/>
          </p:nvPr>
        </p:nvSpPr>
        <p:spPr/>
        <p:txBody>
          <a:bodyPr/>
          <a:lstStyle/>
          <a:p>
            <a:fld id="{B8BE4E1F-A892-4AC7-9D8B-4AF25EECB31E}" type="datetimeFigureOut">
              <a:rPr lang="en-ZA" smtClean="0"/>
              <a:t>2025/11/23</a:t>
            </a:fld>
            <a:endParaRPr lang="en-ZA"/>
          </a:p>
        </p:txBody>
      </p:sp>
      <p:sp>
        <p:nvSpPr>
          <p:cNvPr id="5" name="Footer Placeholder 4">
            <a:extLst>
              <a:ext uri="{FF2B5EF4-FFF2-40B4-BE49-F238E27FC236}">
                <a16:creationId xmlns:a16="http://schemas.microsoft.com/office/drawing/2014/main" id="{3AF0A69F-E253-FAED-A8E1-5F89E2B06FAC}"/>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774551E-4461-029E-A215-6165DB70A6A0}"/>
              </a:ext>
            </a:extLst>
          </p:cNvPr>
          <p:cNvSpPr>
            <a:spLocks noGrp="1"/>
          </p:cNvSpPr>
          <p:nvPr>
            <p:ph type="sldNum" sz="quarter" idx="12"/>
          </p:nvPr>
        </p:nvSpPr>
        <p:spPr/>
        <p:txBody>
          <a:bodyPr/>
          <a:lstStyle/>
          <a:p>
            <a:fld id="{6905A11B-1FCB-4EAB-B72F-DC10CE69EC81}" type="slidenum">
              <a:rPr lang="en-ZA" smtClean="0"/>
              <a:t>‹#›</a:t>
            </a:fld>
            <a:endParaRPr lang="en-ZA"/>
          </a:p>
        </p:txBody>
      </p:sp>
    </p:spTree>
    <p:extLst>
      <p:ext uri="{BB962C8B-B14F-4D97-AF65-F5344CB8AC3E}">
        <p14:creationId xmlns:p14="http://schemas.microsoft.com/office/powerpoint/2010/main" val="1419998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103B4-CC8F-AC51-DE29-5986403C0E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E357E1C1-39F2-6EF9-3B67-48AFC725A17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9231D9-0CB0-8A06-71DA-9513499459F6}"/>
              </a:ext>
            </a:extLst>
          </p:cNvPr>
          <p:cNvSpPr>
            <a:spLocks noGrp="1"/>
          </p:cNvSpPr>
          <p:nvPr>
            <p:ph type="dt" sz="half" idx="10"/>
          </p:nvPr>
        </p:nvSpPr>
        <p:spPr/>
        <p:txBody>
          <a:bodyPr/>
          <a:lstStyle/>
          <a:p>
            <a:fld id="{B8BE4E1F-A892-4AC7-9D8B-4AF25EECB31E}" type="datetimeFigureOut">
              <a:rPr lang="en-ZA" smtClean="0"/>
              <a:t>2025/11/23</a:t>
            </a:fld>
            <a:endParaRPr lang="en-ZA"/>
          </a:p>
        </p:txBody>
      </p:sp>
      <p:sp>
        <p:nvSpPr>
          <p:cNvPr id="5" name="Footer Placeholder 4">
            <a:extLst>
              <a:ext uri="{FF2B5EF4-FFF2-40B4-BE49-F238E27FC236}">
                <a16:creationId xmlns:a16="http://schemas.microsoft.com/office/drawing/2014/main" id="{B596C9ED-23E4-56F3-C6B7-C4F280056BE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5074166E-7754-53A7-6C24-7EFA555E6284}"/>
              </a:ext>
            </a:extLst>
          </p:cNvPr>
          <p:cNvSpPr>
            <a:spLocks noGrp="1"/>
          </p:cNvSpPr>
          <p:nvPr>
            <p:ph type="sldNum" sz="quarter" idx="12"/>
          </p:nvPr>
        </p:nvSpPr>
        <p:spPr/>
        <p:txBody>
          <a:bodyPr/>
          <a:lstStyle/>
          <a:p>
            <a:fld id="{6905A11B-1FCB-4EAB-B72F-DC10CE69EC81}" type="slidenum">
              <a:rPr lang="en-ZA" smtClean="0"/>
              <a:t>‹#›</a:t>
            </a:fld>
            <a:endParaRPr lang="en-ZA"/>
          </a:p>
        </p:txBody>
      </p:sp>
    </p:spTree>
    <p:extLst>
      <p:ext uri="{BB962C8B-B14F-4D97-AF65-F5344CB8AC3E}">
        <p14:creationId xmlns:p14="http://schemas.microsoft.com/office/powerpoint/2010/main" val="3527812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2BBA7-16E1-86C6-A045-3751493896C2}"/>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7FF73BA8-C933-E665-6FDC-67F96FE19E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D5075C01-645D-8516-161C-7530B1CE39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E864AC87-1599-4A3C-C15E-D2F05C363E02}"/>
              </a:ext>
            </a:extLst>
          </p:cNvPr>
          <p:cNvSpPr>
            <a:spLocks noGrp="1"/>
          </p:cNvSpPr>
          <p:nvPr>
            <p:ph type="dt" sz="half" idx="10"/>
          </p:nvPr>
        </p:nvSpPr>
        <p:spPr/>
        <p:txBody>
          <a:bodyPr/>
          <a:lstStyle/>
          <a:p>
            <a:fld id="{B8BE4E1F-A892-4AC7-9D8B-4AF25EECB31E}" type="datetimeFigureOut">
              <a:rPr lang="en-ZA" smtClean="0"/>
              <a:t>2025/11/23</a:t>
            </a:fld>
            <a:endParaRPr lang="en-ZA"/>
          </a:p>
        </p:txBody>
      </p:sp>
      <p:sp>
        <p:nvSpPr>
          <p:cNvPr id="6" name="Footer Placeholder 5">
            <a:extLst>
              <a:ext uri="{FF2B5EF4-FFF2-40B4-BE49-F238E27FC236}">
                <a16:creationId xmlns:a16="http://schemas.microsoft.com/office/drawing/2014/main" id="{6CC74B2D-2C74-ADEB-1E44-9354ADC4441F}"/>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A96FE1DB-A577-85FD-3BB6-ADC7A2E4A076}"/>
              </a:ext>
            </a:extLst>
          </p:cNvPr>
          <p:cNvSpPr>
            <a:spLocks noGrp="1"/>
          </p:cNvSpPr>
          <p:nvPr>
            <p:ph type="sldNum" sz="quarter" idx="12"/>
          </p:nvPr>
        </p:nvSpPr>
        <p:spPr/>
        <p:txBody>
          <a:bodyPr/>
          <a:lstStyle/>
          <a:p>
            <a:fld id="{6905A11B-1FCB-4EAB-B72F-DC10CE69EC81}" type="slidenum">
              <a:rPr lang="en-ZA" smtClean="0"/>
              <a:t>‹#›</a:t>
            </a:fld>
            <a:endParaRPr lang="en-ZA"/>
          </a:p>
        </p:txBody>
      </p:sp>
    </p:spTree>
    <p:extLst>
      <p:ext uri="{BB962C8B-B14F-4D97-AF65-F5344CB8AC3E}">
        <p14:creationId xmlns:p14="http://schemas.microsoft.com/office/powerpoint/2010/main" val="2784617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BA02F-548E-1A89-BCE8-E50CEBB462C2}"/>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6C540E67-1CCE-B117-5E07-53C957D254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F6EA77-7471-6D0B-AAAE-19DCDF5CA3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9D6E261E-F9D7-9125-1A10-9677D29BF9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54A2AE-5F0C-9370-B872-093E033D0C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86E6472B-6937-E998-CC18-C28F1015535F}"/>
              </a:ext>
            </a:extLst>
          </p:cNvPr>
          <p:cNvSpPr>
            <a:spLocks noGrp="1"/>
          </p:cNvSpPr>
          <p:nvPr>
            <p:ph type="dt" sz="half" idx="10"/>
          </p:nvPr>
        </p:nvSpPr>
        <p:spPr/>
        <p:txBody>
          <a:bodyPr/>
          <a:lstStyle/>
          <a:p>
            <a:fld id="{B8BE4E1F-A892-4AC7-9D8B-4AF25EECB31E}" type="datetimeFigureOut">
              <a:rPr lang="en-ZA" smtClean="0"/>
              <a:t>2025/11/23</a:t>
            </a:fld>
            <a:endParaRPr lang="en-ZA"/>
          </a:p>
        </p:txBody>
      </p:sp>
      <p:sp>
        <p:nvSpPr>
          <p:cNvPr id="8" name="Footer Placeholder 7">
            <a:extLst>
              <a:ext uri="{FF2B5EF4-FFF2-40B4-BE49-F238E27FC236}">
                <a16:creationId xmlns:a16="http://schemas.microsoft.com/office/drawing/2014/main" id="{E00A79C5-1AB6-14DA-ED03-11B0A0CBDEBD}"/>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C518CA5B-A73D-899A-A326-1F475D793BE0}"/>
              </a:ext>
            </a:extLst>
          </p:cNvPr>
          <p:cNvSpPr>
            <a:spLocks noGrp="1"/>
          </p:cNvSpPr>
          <p:nvPr>
            <p:ph type="sldNum" sz="quarter" idx="12"/>
          </p:nvPr>
        </p:nvSpPr>
        <p:spPr/>
        <p:txBody>
          <a:bodyPr/>
          <a:lstStyle/>
          <a:p>
            <a:fld id="{6905A11B-1FCB-4EAB-B72F-DC10CE69EC81}" type="slidenum">
              <a:rPr lang="en-ZA" smtClean="0"/>
              <a:t>‹#›</a:t>
            </a:fld>
            <a:endParaRPr lang="en-ZA"/>
          </a:p>
        </p:txBody>
      </p:sp>
    </p:spTree>
    <p:extLst>
      <p:ext uri="{BB962C8B-B14F-4D97-AF65-F5344CB8AC3E}">
        <p14:creationId xmlns:p14="http://schemas.microsoft.com/office/powerpoint/2010/main" val="1231162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1398D-28DC-9970-1447-8B44738E17E1}"/>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91C82FFD-8BA9-226C-8BDB-97A7F2457098}"/>
              </a:ext>
            </a:extLst>
          </p:cNvPr>
          <p:cNvSpPr>
            <a:spLocks noGrp="1"/>
          </p:cNvSpPr>
          <p:nvPr>
            <p:ph type="dt" sz="half" idx="10"/>
          </p:nvPr>
        </p:nvSpPr>
        <p:spPr/>
        <p:txBody>
          <a:bodyPr/>
          <a:lstStyle/>
          <a:p>
            <a:fld id="{B8BE4E1F-A892-4AC7-9D8B-4AF25EECB31E}" type="datetimeFigureOut">
              <a:rPr lang="en-ZA" smtClean="0"/>
              <a:t>2025/11/23</a:t>
            </a:fld>
            <a:endParaRPr lang="en-ZA"/>
          </a:p>
        </p:txBody>
      </p:sp>
      <p:sp>
        <p:nvSpPr>
          <p:cNvPr id="4" name="Footer Placeholder 3">
            <a:extLst>
              <a:ext uri="{FF2B5EF4-FFF2-40B4-BE49-F238E27FC236}">
                <a16:creationId xmlns:a16="http://schemas.microsoft.com/office/drawing/2014/main" id="{3B4260A9-FB70-AB1F-BB13-00C1F1D84624}"/>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2BFA5394-CBBF-90C4-CE57-9504674FB7B0}"/>
              </a:ext>
            </a:extLst>
          </p:cNvPr>
          <p:cNvSpPr>
            <a:spLocks noGrp="1"/>
          </p:cNvSpPr>
          <p:nvPr>
            <p:ph type="sldNum" sz="quarter" idx="12"/>
          </p:nvPr>
        </p:nvSpPr>
        <p:spPr/>
        <p:txBody>
          <a:bodyPr/>
          <a:lstStyle/>
          <a:p>
            <a:fld id="{6905A11B-1FCB-4EAB-B72F-DC10CE69EC81}" type="slidenum">
              <a:rPr lang="en-ZA" smtClean="0"/>
              <a:t>‹#›</a:t>
            </a:fld>
            <a:endParaRPr lang="en-ZA"/>
          </a:p>
        </p:txBody>
      </p:sp>
    </p:spTree>
    <p:extLst>
      <p:ext uri="{BB962C8B-B14F-4D97-AF65-F5344CB8AC3E}">
        <p14:creationId xmlns:p14="http://schemas.microsoft.com/office/powerpoint/2010/main" val="273585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DBB6FB-7F22-2AC6-7BCC-747C13326185}"/>
              </a:ext>
            </a:extLst>
          </p:cNvPr>
          <p:cNvSpPr>
            <a:spLocks noGrp="1"/>
          </p:cNvSpPr>
          <p:nvPr>
            <p:ph type="dt" sz="half" idx="10"/>
          </p:nvPr>
        </p:nvSpPr>
        <p:spPr/>
        <p:txBody>
          <a:bodyPr/>
          <a:lstStyle/>
          <a:p>
            <a:fld id="{B8BE4E1F-A892-4AC7-9D8B-4AF25EECB31E}" type="datetimeFigureOut">
              <a:rPr lang="en-ZA" smtClean="0"/>
              <a:t>2025/11/23</a:t>
            </a:fld>
            <a:endParaRPr lang="en-ZA"/>
          </a:p>
        </p:txBody>
      </p:sp>
      <p:sp>
        <p:nvSpPr>
          <p:cNvPr id="3" name="Footer Placeholder 2">
            <a:extLst>
              <a:ext uri="{FF2B5EF4-FFF2-40B4-BE49-F238E27FC236}">
                <a16:creationId xmlns:a16="http://schemas.microsoft.com/office/drawing/2014/main" id="{55AAFD9F-FA76-0372-28AE-1348688301AB}"/>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A4009FFC-2D3D-9850-4493-5FBBC7ADBA53}"/>
              </a:ext>
            </a:extLst>
          </p:cNvPr>
          <p:cNvSpPr>
            <a:spLocks noGrp="1"/>
          </p:cNvSpPr>
          <p:nvPr>
            <p:ph type="sldNum" sz="quarter" idx="12"/>
          </p:nvPr>
        </p:nvSpPr>
        <p:spPr/>
        <p:txBody>
          <a:bodyPr/>
          <a:lstStyle/>
          <a:p>
            <a:fld id="{6905A11B-1FCB-4EAB-B72F-DC10CE69EC81}" type="slidenum">
              <a:rPr lang="en-ZA" smtClean="0"/>
              <a:t>‹#›</a:t>
            </a:fld>
            <a:endParaRPr lang="en-ZA"/>
          </a:p>
        </p:txBody>
      </p:sp>
    </p:spTree>
    <p:extLst>
      <p:ext uri="{BB962C8B-B14F-4D97-AF65-F5344CB8AC3E}">
        <p14:creationId xmlns:p14="http://schemas.microsoft.com/office/powerpoint/2010/main" val="2965289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39090-F2EF-CBF6-1911-5C3ABD4660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6FBDF250-DC5B-9E41-D548-1BF9070295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99FD7E9E-ED8C-2E27-4999-889DE281EB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73AC8A-547A-E58B-F8F7-1FCD5BE616E3}"/>
              </a:ext>
            </a:extLst>
          </p:cNvPr>
          <p:cNvSpPr>
            <a:spLocks noGrp="1"/>
          </p:cNvSpPr>
          <p:nvPr>
            <p:ph type="dt" sz="half" idx="10"/>
          </p:nvPr>
        </p:nvSpPr>
        <p:spPr/>
        <p:txBody>
          <a:bodyPr/>
          <a:lstStyle/>
          <a:p>
            <a:fld id="{B8BE4E1F-A892-4AC7-9D8B-4AF25EECB31E}" type="datetimeFigureOut">
              <a:rPr lang="en-ZA" smtClean="0"/>
              <a:t>2025/11/23</a:t>
            </a:fld>
            <a:endParaRPr lang="en-ZA"/>
          </a:p>
        </p:txBody>
      </p:sp>
      <p:sp>
        <p:nvSpPr>
          <p:cNvPr id="6" name="Footer Placeholder 5">
            <a:extLst>
              <a:ext uri="{FF2B5EF4-FFF2-40B4-BE49-F238E27FC236}">
                <a16:creationId xmlns:a16="http://schemas.microsoft.com/office/drawing/2014/main" id="{E87F2037-2D70-9F88-C872-5D8B4197D452}"/>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E3892A84-AD49-0E45-AB65-27D17DE49E03}"/>
              </a:ext>
            </a:extLst>
          </p:cNvPr>
          <p:cNvSpPr>
            <a:spLocks noGrp="1"/>
          </p:cNvSpPr>
          <p:nvPr>
            <p:ph type="sldNum" sz="quarter" idx="12"/>
          </p:nvPr>
        </p:nvSpPr>
        <p:spPr/>
        <p:txBody>
          <a:bodyPr/>
          <a:lstStyle/>
          <a:p>
            <a:fld id="{6905A11B-1FCB-4EAB-B72F-DC10CE69EC81}" type="slidenum">
              <a:rPr lang="en-ZA" smtClean="0"/>
              <a:t>‹#›</a:t>
            </a:fld>
            <a:endParaRPr lang="en-ZA"/>
          </a:p>
        </p:txBody>
      </p:sp>
    </p:spTree>
    <p:extLst>
      <p:ext uri="{BB962C8B-B14F-4D97-AF65-F5344CB8AC3E}">
        <p14:creationId xmlns:p14="http://schemas.microsoft.com/office/powerpoint/2010/main" val="3271104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3A076-D980-DC6E-C62D-39AF05DF41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A49EEB66-0EA4-C2D1-2433-89227600F9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DF2C26FF-F46C-224C-C373-21D608B9A0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4534F7-8E0B-3108-9AFA-AA95A61A49CA}"/>
              </a:ext>
            </a:extLst>
          </p:cNvPr>
          <p:cNvSpPr>
            <a:spLocks noGrp="1"/>
          </p:cNvSpPr>
          <p:nvPr>
            <p:ph type="dt" sz="half" idx="10"/>
          </p:nvPr>
        </p:nvSpPr>
        <p:spPr/>
        <p:txBody>
          <a:bodyPr/>
          <a:lstStyle/>
          <a:p>
            <a:fld id="{B8BE4E1F-A892-4AC7-9D8B-4AF25EECB31E}" type="datetimeFigureOut">
              <a:rPr lang="en-ZA" smtClean="0"/>
              <a:t>2025/11/23</a:t>
            </a:fld>
            <a:endParaRPr lang="en-ZA"/>
          </a:p>
        </p:txBody>
      </p:sp>
      <p:sp>
        <p:nvSpPr>
          <p:cNvPr id="6" name="Footer Placeholder 5">
            <a:extLst>
              <a:ext uri="{FF2B5EF4-FFF2-40B4-BE49-F238E27FC236}">
                <a16:creationId xmlns:a16="http://schemas.microsoft.com/office/drawing/2014/main" id="{5F777BBD-BB80-4785-B25C-6F721B7ED4B3}"/>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65A3B46D-A74E-E873-9734-C3FCC8E1FC3D}"/>
              </a:ext>
            </a:extLst>
          </p:cNvPr>
          <p:cNvSpPr>
            <a:spLocks noGrp="1"/>
          </p:cNvSpPr>
          <p:nvPr>
            <p:ph type="sldNum" sz="quarter" idx="12"/>
          </p:nvPr>
        </p:nvSpPr>
        <p:spPr/>
        <p:txBody>
          <a:bodyPr/>
          <a:lstStyle/>
          <a:p>
            <a:fld id="{6905A11B-1FCB-4EAB-B72F-DC10CE69EC81}" type="slidenum">
              <a:rPr lang="en-ZA" smtClean="0"/>
              <a:t>‹#›</a:t>
            </a:fld>
            <a:endParaRPr lang="en-ZA"/>
          </a:p>
        </p:txBody>
      </p:sp>
    </p:spTree>
    <p:extLst>
      <p:ext uri="{BB962C8B-B14F-4D97-AF65-F5344CB8AC3E}">
        <p14:creationId xmlns:p14="http://schemas.microsoft.com/office/powerpoint/2010/main" val="3816183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F088D-1BBD-D623-B815-F33E5620ADAE}"/>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5680ECD8-2B3F-9CDB-79E2-E3978AE46A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3A65045-BC76-8DA3-DE53-A16A6DD78419}"/>
              </a:ext>
            </a:extLst>
          </p:cNvPr>
          <p:cNvSpPr>
            <a:spLocks noGrp="1"/>
          </p:cNvSpPr>
          <p:nvPr>
            <p:ph type="dt" sz="half" idx="10"/>
          </p:nvPr>
        </p:nvSpPr>
        <p:spPr/>
        <p:txBody>
          <a:bodyPr/>
          <a:lstStyle/>
          <a:p>
            <a:fld id="{B8BE4E1F-A892-4AC7-9D8B-4AF25EECB31E}" type="datetimeFigureOut">
              <a:rPr lang="en-ZA" smtClean="0"/>
              <a:t>2025/11/23</a:t>
            </a:fld>
            <a:endParaRPr lang="en-ZA"/>
          </a:p>
        </p:txBody>
      </p:sp>
      <p:sp>
        <p:nvSpPr>
          <p:cNvPr id="5" name="Footer Placeholder 4">
            <a:extLst>
              <a:ext uri="{FF2B5EF4-FFF2-40B4-BE49-F238E27FC236}">
                <a16:creationId xmlns:a16="http://schemas.microsoft.com/office/drawing/2014/main" id="{9E16C328-6E19-ABC7-55BE-5988ECDB63D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C4BACB8-A4D1-304F-1E9B-DF376F374591}"/>
              </a:ext>
            </a:extLst>
          </p:cNvPr>
          <p:cNvSpPr>
            <a:spLocks noGrp="1"/>
          </p:cNvSpPr>
          <p:nvPr>
            <p:ph type="sldNum" sz="quarter" idx="12"/>
          </p:nvPr>
        </p:nvSpPr>
        <p:spPr/>
        <p:txBody>
          <a:bodyPr/>
          <a:lstStyle/>
          <a:p>
            <a:fld id="{6905A11B-1FCB-4EAB-B72F-DC10CE69EC81}" type="slidenum">
              <a:rPr lang="en-ZA" smtClean="0"/>
              <a:t>‹#›</a:t>
            </a:fld>
            <a:endParaRPr lang="en-ZA"/>
          </a:p>
        </p:txBody>
      </p:sp>
    </p:spTree>
    <p:extLst>
      <p:ext uri="{BB962C8B-B14F-4D97-AF65-F5344CB8AC3E}">
        <p14:creationId xmlns:p14="http://schemas.microsoft.com/office/powerpoint/2010/main" val="2829584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11D90E-C424-4448-279E-B0EF0CDF739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A725C16E-F83A-4711-CD11-EB17A5DFAE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873355F-EFB1-1DB7-3055-6183A8BD9555}"/>
              </a:ext>
            </a:extLst>
          </p:cNvPr>
          <p:cNvSpPr>
            <a:spLocks noGrp="1"/>
          </p:cNvSpPr>
          <p:nvPr>
            <p:ph type="dt" sz="half" idx="10"/>
          </p:nvPr>
        </p:nvSpPr>
        <p:spPr/>
        <p:txBody>
          <a:bodyPr/>
          <a:lstStyle/>
          <a:p>
            <a:fld id="{B8BE4E1F-A892-4AC7-9D8B-4AF25EECB31E}" type="datetimeFigureOut">
              <a:rPr lang="en-ZA" smtClean="0"/>
              <a:t>2025/11/23</a:t>
            </a:fld>
            <a:endParaRPr lang="en-ZA"/>
          </a:p>
        </p:txBody>
      </p:sp>
      <p:sp>
        <p:nvSpPr>
          <p:cNvPr id="5" name="Footer Placeholder 4">
            <a:extLst>
              <a:ext uri="{FF2B5EF4-FFF2-40B4-BE49-F238E27FC236}">
                <a16:creationId xmlns:a16="http://schemas.microsoft.com/office/drawing/2014/main" id="{45A628D4-B74F-32A8-48FF-2CB3D1CC3866}"/>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97248263-52CD-4F35-CBB5-7FEC60548C0E}"/>
              </a:ext>
            </a:extLst>
          </p:cNvPr>
          <p:cNvSpPr>
            <a:spLocks noGrp="1"/>
          </p:cNvSpPr>
          <p:nvPr>
            <p:ph type="sldNum" sz="quarter" idx="12"/>
          </p:nvPr>
        </p:nvSpPr>
        <p:spPr/>
        <p:txBody>
          <a:bodyPr/>
          <a:lstStyle/>
          <a:p>
            <a:fld id="{6905A11B-1FCB-4EAB-B72F-DC10CE69EC81}" type="slidenum">
              <a:rPr lang="en-ZA" smtClean="0"/>
              <a:t>‹#›</a:t>
            </a:fld>
            <a:endParaRPr lang="en-ZA"/>
          </a:p>
        </p:txBody>
      </p:sp>
    </p:spTree>
    <p:extLst>
      <p:ext uri="{BB962C8B-B14F-4D97-AF65-F5344CB8AC3E}">
        <p14:creationId xmlns:p14="http://schemas.microsoft.com/office/powerpoint/2010/main" val="3029749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1080ED-5AE7-4292-1DCF-87A696711C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1D7D36CE-4B53-7B99-DD98-8B0AC1999D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E445BFC1-5D41-53DE-B4DB-432E4D3521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BE4E1F-A892-4AC7-9D8B-4AF25EECB31E}" type="datetimeFigureOut">
              <a:rPr lang="en-ZA" smtClean="0"/>
              <a:t>2025/11/23</a:t>
            </a:fld>
            <a:endParaRPr lang="en-ZA"/>
          </a:p>
        </p:txBody>
      </p:sp>
      <p:sp>
        <p:nvSpPr>
          <p:cNvPr id="5" name="Footer Placeholder 4">
            <a:extLst>
              <a:ext uri="{FF2B5EF4-FFF2-40B4-BE49-F238E27FC236}">
                <a16:creationId xmlns:a16="http://schemas.microsoft.com/office/drawing/2014/main" id="{0A58E77C-225C-017E-E126-497058728B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CD93793D-8E30-3D34-5D2A-C1B6B10FD0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05A11B-1FCB-4EAB-B72F-DC10CE69EC81}" type="slidenum">
              <a:rPr lang="en-ZA" smtClean="0"/>
              <a:t>‹#›</a:t>
            </a:fld>
            <a:endParaRPr lang="en-ZA"/>
          </a:p>
        </p:txBody>
      </p:sp>
    </p:spTree>
    <p:extLst>
      <p:ext uri="{BB962C8B-B14F-4D97-AF65-F5344CB8AC3E}">
        <p14:creationId xmlns:p14="http://schemas.microsoft.com/office/powerpoint/2010/main" val="15994623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434DB-6C75-B5BA-9CFD-7FED6BD206A1}"/>
              </a:ext>
            </a:extLst>
          </p:cNvPr>
          <p:cNvSpPr>
            <a:spLocks noGrp="1"/>
          </p:cNvSpPr>
          <p:nvPr>
            <p:ph type="ctrTitle"/>
          </p:nvPr>
        </p:nvSpPr>
        <p:spPr>
          <a:xfrm>
            <a:off x="0" y="0"/>
            <a:ext cx="12192000" cy="3509963"/>
          </a:xfrm>
        </p:spPr>
        <p:txBody>
          <a:bodyPr/>
          <a:lstStyle/>
          <a:p>
            <a:r>
              <a:rPr lang="en-ZA" dirty="0"/>
              <a:t>BrightLearn Sales Analysis</a:t>
            </a:r>
          </a:p>
        </p:txBody>
      </p:sp>
      <p:sp>
        <p:nvSpPr>
          <p:cNvPr id="3" name="Subtitle 2">
            <a:extLst>
              <a:ext uri="{FF2B5EF4-FFF2-40B4-BE49-F238E27FC236}">
                <a16:creationId xmlns:a16="http://schemas.microsoft.com/office/drawing/2014/main" id="{4728D5AC-18FE-A6A9-624D-3C4D15B40C3F}"/>
              </a:ext>
            </a:extLst>
          </p:cNvPr>
          <p:cNvSpPr>
            <a:spLocks noGrp="1"/>
          </p:cNvSpPr>
          <p:nvPr>
            <p:ph type="subTitle" idx="1"/>
          </p:nvPr>
        </p:nvSpPr>
        <p:spPr>
          <a:xfrm>
            <a:off x="0" y="3602038"/>
            <a:ext cx="12192000" cy="3255962"/>
          </a:xfrm>
        </p:spPr>
        <p:txBody>
          <a:bodyPr/>
          <a:lstStyle/>
          <a:p>
            <a:r>
              <a:rPr lang="en-ZA" dirty="0"/>
              <a:t>By Lubabalo Sesonasipho Sitama</a:t>
            </a:r>
          </a:p>
        </p:txBody>
      </p:sp>
    </p:spTree>
    <p:extLst>
      <p:ext uri="{BB962C8B-B14F-4D97-AF65-F5344CB8AC3E}">
        <p14:creationId xmlns:p14="http://schemas.microsoft.com/office/powerpoint/2010/main" val="3005356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91FB2-C21C-15AD-223A-7F9822931F82}"/>
              </a:ext>
            </a:extLst>
          </p:cNvPr>
          <p:cNvSpPr>
            <a:spLocks noGrp="1"/>
          </p:cNvSpPr>
          <p:nvPr>
            <p:ph type="title"/>
          </p:nvPr>
        </p:nvSpPr>
        <p:spPr>
          <a:xfrm>
            <a:off x="0" y="1"/>
            <a:ext cx="12192000" cy="1690688"/>
          </a:xfrm>
        </p:spPr>
        <p:txBody>
          <a:bodyPr>
            <a:normAutofit/>
          </a:bodyPr>
          <a:lstStyle/>
          <a:p>
            <a:r>
              <a:rPr lang="en-ZA" sz="1600" dirty="0"/>
              <a:t>- The product sells well on the first day of the month, with an extreme decline as the month proceeds, an increases in sales of the product is evident as month end approaches leading on to the first day of the next month where a repeat of the declining trend line will be experienced. </a:t>
            </a:r>
            <a:br>
              <a:rPr lang="en-ZA" sz="1600" dirty="0"/>
            </a:br>
            <a:r>
              <a:rPr lang="en-ZA" sz="1600" dirty="0"/>
              <a:t>- The product sells well on the first day of the month, on the 15</a:t>
            </a:r>
            <a:r>
              <a:rPr lang="en-ZA" sz="1600" baseline="30000" dirty="0"/>
              <a:t>th</a:t>
            </a:r>
            <a:r>
              <a:rPr lang="en-ZA" sz="1600" dirty="0"/>
              <a:t> day of the month (mid-way through the month) and on month end.</a:t>
            </a:r>
            <a:br>
              <a:rPr lang="en-ZA" sz="1600" dirty="0"/>
            </a:br>
            <a:endParaRPr lang="en-ZA" sz="1600" dirty="0"/>
          </a:p>
        </p:txBody>
      </p:sp>
      <p:graphicFrame>
        <p:nvGraphicFramePr>
          <p:cNvPr id="4" name="Content Placeholder 3">
            <a:extLst>
              <a:ext uri="{FF2B5EF4-FFF2-40B4-BE49-F238E27FC236}">
                <a16:creationId xmlns:a16="http://schemas.microsoft.com/office/drawing/2014/main" id="{5FADD276-9BCC-4743-DEEF-CBCBE6B481D2}"/>
              </a:ext>
            </a:extLst>
          </p:cNvPr>
          <p:cNvGraphicFramePr>
            <a:graphicFrameLocks noGrp="1"/>
          </p:cNvGraphicFramePr>
          <p:nvPr>
            <p:ph idx="1"/>
            <p:extLst>
              <p:ext uri="{D42A27DB-BD31-4B8C-83A1-F6EECF244321}">
                <p14:modId xmlns:p14="http://schemas.microsoft.com/office/powerpoint/2010/main" val="2437175400"/>
              </p:ext>
            </p:extLst>
          </p:nvPr>
        </p:nvGraphicFramePr>
        <p:xfrm>
          <a:off x="0" y="1690688"/>
          <a:ext cx="6096000" cy="516731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0985A218-CE97-6C83-9074-2867319FE5A1}"/>
              </a:ext>
            </a:extLst>
          </p:cNvPr>
          <p:cNvGraphicFramePr>
            <a:graphicFrameLocks/>
          </p:cNvGraphicFramePr>
          <p:nvPr>
            <p:extLst>
              <p:ext uri="{D42A27DB-BD31-4B8C-83A1-F6EECF244321}">
                <p14:modId xmlns:p14="http://schemas.microsoft.com/office/powerpoint/2010/main" val="2469684604"/>
              </p:ext>
            </p:extLst>
          </p:nvPr>
        </p:nvGraphicFramePr>
        <p:xfrm>
          <a:off x="6096000" y="1699403"/>
          <a:ext cx="6096000" cy="515859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97970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A6A3F-0EE5-003E-69C6-9E892A8BDE9E}"/>
              </a:ext>
            </a:extLst>
          </p:cNvPr>
          <p:cNvSpPr>
            <a:spLocks noGrp="1"/>
          </p:cNvSpPr>
          <p:nvPr>
            <p:ph type="title"/>
          </p:nvPr>
        </p:nvSpPr>
        <p:spPr/>
        <p:txBody>
          <a:bodyPr>
            <a:normAutofit/>
          </a:bodyPr>
          <a:lstStyle/>
          <a:p>
            <a:r>
              <a:rPr lang="en-ZA" sz="1600" dirty="0"/>
              <a:t>- The product sells well on Weekends, this is evident in the percentage distribution of the total sales/revenue of the product where 53% of the total sales/revenue is made on the Weekends and only 47% of the total sales/revenue is made on the Weekdays </a:t>
            </a:r>
            <a:br>
              <a:rPr lang="en-ZA" sz="1600" dirty="0"/>
            </a:br>
            <a:r>
              <a:rPr lang="en-ZA" sz="1600" dirty="0"/>
              <a:t>- Sat and Fri are the days where the bulk of the sales are made, followed by Mon which is a day that falls within the Weekday category</a:t>
            </a:r>
          </a:p>
        </p:txBody>
      </p:sp>
      <p:graphicFrame>
        <p:nvGraphicFramePr>
          <p:cNvPr id="4" name="Content Placeholder 3">
            <a:extLst>
              <a:ext uri="{FF2B5EF4-FFF2-40B4-BE49-F238E27FC236}">
                <a16:creationId xmlns:a16="http://schemas.microsoft.com/office/drawing/2014/main" id="{7023C644-4A06-5CC3-CFD1-62A4DE394678}"/>
              </a:ext>
            </a:extLst>
          </p:cNvPr>
          <p:cNvGraphicFramePr>
            <a:graphicFrameLocks noGrp="1"/>
          </p:cNvGraphicFramePr>
          <p:nvPr>
            <p:ph idx="1"/>
            <p:extLst>
              <p:ext uri="{D42A27DB-BD31-4B8C-83A1-F6EECF244321}">
                <p14:modId xmlns:p14="http://schemas.microsoft.com/office/powerpoint/2010/main" val="1870619371"/>
              </p:ext>
            </p:extLst>
          </p:nvPr>
        </p:nvGraphicFramePr>
        <p:xfrm>
          <a:off x="0" y="1690688"/>
          <a:ext cx="6096000" cy="516731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B96D476D-2101-0204-8F57-93BEB1AEF425}"/>
              </a:ext>
            </a:extLst>
          </p:cNvPr>
          <p:cNvGraphicFramePr>
            <a:graphicFrameLocks/>
          </p:cNvGraphicFramePr>
          <p:nvPr>
            <p:extLst>
              <p:ext uri="{D42A27DB-BD31-4B8C-83A1-F6EECF244321}">
                <p14:modId xmlns:p14="http://schemas.microsoft.com/office/powerpoint/2010/main" val="2744773291"/>
              </p:ext>
            </p:extLst>
          </p:nvPr>
        </p:nvGraphicFramePr>
        <p:xfrm>
          <a:off x="6096000" y="1690687"/>
          <a:ext cx="6096000" cy="516731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44875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8ABFF-02E4-884A-8A04-0B92D0926AEA}"/>
              </a:ext>
            </a:extLst>
          </p:cNvPr>
          <p:cNvSpPr>
            <a:spLocks noGrp="1"/>
          </p:cNvSpPr>
          <p:nvPr>
            <p:ph type="title"/>
          </p:nvPr>
        </p:nvSpPr>
        <p:spPr>
          <a:xfrm>
            <a:off x="0" y="1"/>
            <a:ext cx="12192000" cy="1690688"/>
          </a:xfrm>
        </p:spPr>
        <p:txBody>
          <a:bodyPr>
            <a:normAutofit/>
          </a:bodyPr>
          <a:lstStyle/>
          <a:p>
            <a:r>
              <a:rPr lang="en-ZA" sz="1600" dirty="0"/>
              <a:t>- A steep increases in sales for the product is experienced in the first half of the year, leading to May which is the month were the most sales are made in a calendar year.</a:t>
            </a:r>
            <a:br>
              <a:rPr lang="en-ZA" sz="1600" dirty="0"/>
            </a:br>
            <a:r>
              <a:rPr lang="en-ZA" sz="1600" dirty="0"/>
              <a:t>- When viewing the Sales Trend by Month it is quite evident that the sales levels fluctuate throughout the year and sales levels are not consistent, this makes it difficult to forecast the product wholistically. </a:t>
            </a:r>
          </a:p>
        </p:txBody>
      </p:sp>
      <p:graphicFrame>
        <p:nvGraphicFramePr>
          <p:cNvPr id="4" name="Content Placeholder 3">
            <a:extLst>
              <a:ext uri="{FF2B5EF4-FFF2-40B4-BE49-F238E27FC236}">
                <a16:creationId xmlns:a16="http://schemas.microsoft.com/office/drawing/2014/main" id="{DFCEE0B3-9ED1-B47A-C637-0E90E0D0C964}"/>
              </a:ext>
            </a:extLst>
          </p:cNvPr>
          <p:cNvGraphicFramePr>
            <a:graphicFrameLocks noGrp="1"/>
          </p:cNvGraphicFramePr>
          <p:nvPr>
            <p:ph idx="1"/>
            <p:extLst>
              <p:ext uri="{D42A27DB-BD31-4B8C-83A1-F6EECF244321}">
                <p14:modId xmlns:p14="http://schemas.microsoft.com/office/powerpoint/2010/main" val="683931324"/>
              </p:ext>
            </p:extLst>
          </p:nvPr>
        </p:nvGraphicFramePr>
        <p:xfrm>
          <a:off x="838200" y="1690688"/>
          <a:ext cx="10515600" cy="44862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948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E008F-D8CC-0CBE-6311-B1BAB2CFB8F6}"/>
              </a:ext>
            </a:extLst>
          </p:cNvPr>
          <p:cNvSpPr>
            <a:spLocks noGrp="1"/>
          </p:cNvSpPr>
          <p:nvPr>
            <p:ph type="title"/>
          </p:nvPr>
        </p:nvSpPr>
        <p:spPr>
          <a:xfrm>
            <a:off x="-1" y="1"/>
            <a:ext cx="12191999" cy="1690688"/>
          </a:xfrm>
        </p:spPr>
        <p:txBody>
          <a:bodyPr>
            <a:normAutofit/>
          </a:bodyPr>
          <a:lstStyle/>
          <a:p>
            <a:r>
              <a:rPr lang="en-ZA" sz="1600" dirty="0"/>
              <a:t>- The Autumn season, is the season where most sales which are above average are made, which truly emphasizes the findings on the previous slide where the month of May is the one month where the highest amount of sales were made for the product in monetary value.</a:t>
            </a:r>
          </a:p>
        </p:txBody>
      </p:sp>
      <p:graphicFrame>
        <p:nvGraphicFramePr>
          <p:cNvPr id="4" name="Content Placeholder 3">
            <a:extLst>
              <a:ext uri="{FF2B5EF4-FFF2-40B4-BE49-F238E27FC236}">
                <a16:creationId xmlns:a16="http://schemas.microsoft.com/office/drawing/2014/main" id="{D7734920-6F49-1574-1E00-7DE3078532F8}"/>
              </a:ext>
            </a:extLst>
          </p:cNvPr>
          <p:cNvGraphicFramePr>
            <a:graphicFrameLocks noGrp="1"/>
          </p:cNvGraphicFramePr>
          <p:nvPr>
            <p:ph idx="1"/>
            <p:extLst>
              <p:ext uri="{D42A27DB-BD31-4B8C-83A1-F6EECF244321}">
                <p14:modId xmlns:p14="http://schemas.microsoft.com/office/powerpoint/2010/main" val="2303005508"/>
              </p:ext>
            </p:extLst>
          </p:nvPr>
        </p:nvGraphicFramePr>
        <p:xfrm>
          <a:off x="0" y="1690688"/>
          <a:ext cx="12192000" cy="51673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39194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4668F-BC81-C8D5-20CD-9BFD589F5A16}"/>
              </a:ext>
            </a:extLst>
          </p:cNvPr>
          <p:cNvSpPr>
            <a:spLocks noGrp="1"/>
          </p:cNvSpPr>
          <p:nvPr>
            <p:ph type="title"/>
          </p:nvPr>
        </p:nvSpPr>
        <p:spPr>
          <a:xfrm>
            <a:off x="0" y="1"/>
            <a:ext cx="12192000" cy="1690688"/>
          </a:xfrm>
        </p:spPr>
        <p:txBody>
          <a:bodyPr>
            <a:normAutofit/>
          </a:bodyPr>
          <a:lstStyle/>
          <a:p>
            <a:r>
              <a:rPr lang="en-ZA" sz="1600" dirty="0"/>
              <a:t>- When the product is sold above the unit price, that is when the most losses are experienced.</a:t>
            </a:r>
            <a:br>
              <a:rPr lang="en-ZA" sz="1600" dirty="0"/>
            </a:br>
            <a:r>
              <a:rPr lang="en-ZA" sz="1600" dirty="0"/>
              <a:t>- Very little to non losses are experienced when the product is sold below the unit price or sold on promotion.</a:t>
            </a:r>
            <a:br>
              <a:rPr lang="en-ZA" sz="1600" dirty="0"/>
            </a:br>
            <a:r>
              <a:rPr lang="en-ZA" sz="1600" dirty="0"/>
              <a:t>- It is always advisable for a product to be sold according to its unit price or on promotion, as this increases the chances of maximising sales which in turn results in profits being derived for the sale of the product.</a:t>
            </a:r>
            <a:br>
              <a:rPr lang="en-ZA" sz="1600" dirty="0"/>
            </a:br>
            <a:r>
              <a:rPr lang="en-ZA" sz="1600" dirty="0"/>
              <a:t>- The relationship between sales and selling the product above unit price is inversely proportional, meaning that there is negative correlation between sales and selling the product above the unit price.</a:t>
            </a:r>
          </a:p>
        </p:txBody>
      </p:sp>
      <p:graphicFrame>
        <p:nvGraphicFramePr>
          <p:cNvPr id="4" name="Content Placeholder 3">
            <a:extLst>
              <a:ext uri="{FF2B5EF4-FFF2-40B4-BE49-F238E27FC236}">
                <a16:creationId xmlns:a16="http://schemas.microsoft.com/office/drawing/2014/main" id="{B70EE2E4-9AA7-203A-EACB-1020927F6599}"/>
              </a:ext>
            </a:extLst>
          </p:cNvPr>
          <p:cNvGraphicFramePr>
            <a:graphicFrameLocks noGrp="1"/>
          </p:cNvGraphicFramePr>
          <p:nvPr>
            <p:ph idx="1"/>
            <p:extLst>
              <p:ext uri="{D42A27DB-BD31-4B8C-83A1-F6EECF244321}">
                <p14:modId xmlns:p14="http://schemas.microsoft.com/office/powerpoint/2010/main" val="1664081092"/>
              </p:ext>
            </p:extLst>
          </p:nvPr>
        </p:nvGraphicFramePr>
        <p:xfrm>
          <a:off x="0" y="1825625"/>
          <a:ext cx="121920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24165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77515-C45C-DF61-CEDB-C587A73CF11E}"/>
              </a:ext>
            </a:extLst>
          </p:cNvPr>
          <p:cNvSpPr>
            <a:spLocks noGrp="1"/>
          </p:cNvSpPr>
          <p:nvPr>
            <p:ph type="title"/>
          </p:nvPr>
        </p:nvSpPr>
        <p:spPr>
          <a:xfrm>
            <a:off x="0" y="1"/>
            <a:ext cx="12191998" cy="1690688"/>
          </a:xfrm>
        </p:spPr>
        <p:txBody>
          <a:bodyPr>
            <a:normAutofit/>
          </a:bodyPr>
          <a:lstStyle/>
          <a:p>
            <a:r>
              <a:rPr lang="en-ZA" sz="1600" dirty="0"/>
              <a:t>- The costs to make the product are greater than the sales that are made on the product, meaning that no profits are derived from the sales of the product as it costs more to make it</a:t>
            </a:r>
          </a:p>
        </p:txBody>
      </p:sp>
      <p:graphicFrame>
        <p:nvGraphicFramePr>
          <p:cNvPr id="4" name="Content Placeholder 3">
            <a:extLst>
              <a:ext uri="{FF2B5EF4-FFF2-40B4-BE49-F238E27FC236}">
                <a16:creationId xmlns:a16="http://schemas.microsoft.com/office/drawing/2014/main" id="{F09B299F-00DD-8EF5-4195-06F5F2BA0F68}"/>
              </a:ext>
            </a:extLst>
          </p:cNvPr>
          <p:cNvGraphicFramePr>
            <a:graphicFrameLocks noGrp="1"/>
          </p:cNvGraphicFramePr>
          <p:nvPr>
            <p:ph idx="1"/>
            <p:extLst>
              <p:ext uri="{D42A27DB-BD31-4B8C-83A1-F6EECF244321}">
                <p14:modId xmlns:p14="http://schemas.microsoft.com/office/powerpoint/2010/main" val="926889077"/>
              </p:ext>
            </p:extLst>
          </p:nvPr>
        </p:nvGraphicFramePr>
        <p:xfrm>
          <a:off x="0" y="1690689"/>
          <a:ext cx="6096000" cy="516731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9432A53A-F365-9AD3-4970-633848803E22}"/>
              </a:ext>
            </a:extLst>
          </p:cNvPr>
          <p:cNvGraphicFramePr>
            <a:graphicFrameLocks/>
          </p:cNvGraphicFramePr>
          <p:nvPr>
            <p:extLst>
              <p:ext uri="{D42A27DB-BD31-4B8C-83A1-F6EECF244321}">
                <p14:modId xmlns:p14="http://schemas.microsoft.com/office/powerpoint/2010/main" val="1366158398"/>
              </p:ext>
            </p:extLst>
          </p:nvPr>
        </p:nvGraphicFramePr>
        <p:xfrm>
          <a:off x="6095999" y="1690688"/>
          <a:ext cx="6095999" cy="516731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20303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FD55E-034F-8B81-B0DA-B9327ED08FD6}"/>
              </a:ext>
            </a:extLst>
          </p:cNvPr>
          <p:cNvSpPr>
            <a:spLocks noGrp="1"/>
          </p:cNvSpPr>
          <p:nvPr>
            <p:ph type="title"/>
          </p:nvPr>
        </p:nvSpPr>
        <p:spPr>
          <a:xfrm>
            <a:off x="838200" y="365125"/>
            <a:ext cx="10515600" cy="635539"/>
          </a:xfrm>
        </p:spPr>
        <p:txBody>
          <a:bodyPr>
            <a:normAutofit fontScale="90000"/>
          </a:bodyPr>
          <a:lstStyle/>
          <a:p>
            <a:pPr algn="ctr"/>
            <a:r>
              <a:rPr lang="en-ZA" dirty="0"/>
              <a:t>Recommendations</a:t>
            </a:r>
          </a:p>
        </p:txBody>
      </p:sp>
      <p:sp>
        <p:nvSpPr>
          <p:cNvPr id="3" name="Content Placeholder 2">
            <a:extLst>
              <a:ext uri="{FF2B5EF4-FFF2-40B4-BE49-F238E27FC236}">
                <a16:creationId xmlns:a16="http://schemas.microsoft.com/office/drawing/2014/main" id="{8BA0623E-7EA1-D5B2-BE64-C908D04943E9}"/>
              </a:ext>
            </a:extLst>
          </p:cNvPr>
          <p:cNvSpPr>
            <a:spLocks noGrp="1"/>
          </p:cNvSpPr>
          <p:nvPr>
            <p:ph idx="1"/>
          </p:nvPr>
        </p:nvSpPr>
        <p:spPr>
          <a:xfrm>
            <a:off x="0" y="1242204"/>
            <a:ext cx="12192000" cy="5615796"/>
          </a:xfrm>
        </p:spPr>
        <p:txBody>
          <a:bodyPr>
            <a:normAutofit/>
          </a:bodyPr>
          <a:lstStyle/>
          <a:p>
            <a:r>
              <a:rPr lang="en-ZA" sz="1600" dirty="0"/>
              <a:t>Promotional matrix must be put in place in order to attract customers to the product in all different times of the month in order to prevent the decline of sales in the product after the first day of each month, some of the practical ways to promote the product would be to allocate it space that is well within reach to customers or within the high end zones in all stores where the product must be placed in shelfs and racks together with well performing products.</a:t>
            </a:r>
          </a:p>
          <a:p>
            <a:r>
              <a:rPr lang="en-ZA" sz="1600" dirty="0"/>
              <a:t>The making of the product is greater than what the stores sell it for and this has been seen in the Cost VS Sales visual where cost of sales are always greater than the actual sales, the company must find ways to decrease the cost to the production of the product, this will in turn allow for more flexibility in the selling price of the product, because some of the reasons why the product would be sold above unit price in many instances was the company trying to bridge the gap or loss that was made through the production of the product but this results in more loss. So with the cost of production being decreased, this will help to attain profit from the sale of the product because the company will now be able to sell the product below its actual unit price which is where the company makes profit from the sale of the product when the product is sold on promotion.</a:t>
            </a:r>
          </a:p>
          <a:p>
            <a:r>
              <a:rPr lang="en-ZA" sz="1600" dirty="0"/>
              <a:t>Improve the marketing behind the product particularly in season where by the product does not perform well</a:t>
            </a:r>
          </a:p>
          <a:p>
            <a:r>
              <a:rPr lang="en-ZA" sz="1600" dirty="0"/>
              <a:t>Produce less of the product in off seasons, in a nutshell improve the forecasting behind the product </a:t>
            </a:r>
          </a:p>
          <a:p>
            <a:r>
              <a:rPr lang="en-ZA" sz="1600" dirty="0"/>
              <a:t>Create specials/combo’s/selling in groups, where the product must be included in those combo’s, this will assist in the sales of the product because customers are naturally attracted to products sold on promotion or as part of a promotion.</a:t>
            </a:r>
          </a:p>
          <a:p>
            <a:endParaRPr lang="en-ZA" sz="1600" dirty="0"/>
          </a:p>
        </p:txBody>
      </p:sp>
    </p:spTree>
    <p:extLst>
      <p:ext uri="{BB962C8B-B14F-4D97-AF65-F5344CB8AC3E}">
        <p14:creationId xmlns:p14="http://schemas.microsoft.com/office/powerpoint/2010/main" val="3819865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2497-7789-70B7-CE2C-97FAA5ED061C}"/>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32F5E092-7E8D-38A0-6811-A0DEAF384D6C}"/>
              </a:ext>
            </a:extLst>
          </p:cNvPr>
          <p:cNvSpPr>
            <a:spLocks noGrp="1"/>
          </p:cNvSpPr>
          <p:nvPr>
            <p:ph idx="1"/>
          </p:nvPr>
        </p:nvSpPr>
        <p:spPr>
          <a:xfrm>
            <a:off x="3157268" y="2432650"/>
            <a:ext cx="5865961" cy="2398142"/>
          </a:xfrm>
        </p:spPr>
        <p:style>
          <a:lnRef idx="2">
            <a:schemeClr val="dk1"/>
          </a:lnRef>
          <a:fillRef idx="1">
            <a:schemeClr val="lt1"/>
          </a:fillRef>
          <a:effectRef idx="0">
            <a:schemeClr val="dk1"/>
          </a:effectRef>
          <a:fontRef idx="minor">
            <a:schemeClr val="dk1"/>
          </a:fontRef>
        </p:style>
        <p:txBody>
          <a:bodyPr>
            <a:noAutofit/>
          </a:bodyPr>
          <a:lstStyle/>
          <a:p>
            <a:pPr marL="0" indent="0" algn="ctr">
              <a:buNone/>
            </a:pPr>
            <a:endParaRPr lang="en-ZA" sz="4800" b="1" dirty="0">
              <a:ln w="12700" cmpd="sng">
                <a:solidFill>
                  <a:schemeClr val="tx1"/>
                </a:solidFill>
                <a:prstDash val="solid"/>
              </a:ln>
            </a:endParaRPr>
          </a:p>
          <a:p>
            <a:pPr marL="0" indent="0" algn="ctr">
              <a:buNone/>
            </a:pPr>
            <a:r>
              <a:rPr lang="en-ZA" sz="4800" b="1" dirty="0">
                <a:ln w="12700" cmpd="sng">
                  <a:solidFill>
                    <a:schemeClr val="tx1"/>
                  </a:solidFill>
                  <a:prstDash val="solid"/>
                </a:ln>
              </a:rPr>
              <a:t>Thank You </a:t>
            </a:r>
          </a:p>
          <a:p>
            <a:endParaRPr lang="en-ZA" sz="4800" dirty="0"/>
          </a:p>
        </p:txBody>
      </p:sp>
    </p:spTree>
    <p:extLst>
      <p:ext uri="{BB962C8B-B14F-4D97-AF65-F5344CB8AC3E}">
        <p14:creationId xmlns:p14="http://schemas.microsoft.com/office/powerpoint/2010/main" val="20857964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195</TotalTime>
  <Words>845</Words>
  <Application>Microsoft Office PowerPoint</Application>
  <PresentationFormat>Widescreen</PresentationFormat>
  <Paragraphs>22</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BrightLearn Sales Analysis</vt:lpstr>
      <vt:lpstr>- The product sells well on the first day of the month, with an extreme decline as the month proceeds, an increases in sales of the product is evident as month end approaches leading on to the first day of the next month where a repeat of the declining trend line will be experienced.  - The product sells well on the first day of the month, on the 15th day of the month (mid-way through the month) and on month end. </vt:lpstr>
      <vt:lpstr>- The product sells well on Weekends, this is evident in the percentage distribution of the total sales/revenue of the product where 53% of the total sales/revenue is made on the Weekends and only 47% of the total sales/revenue is made on the Weekdays  - Sat and Fri are the days where the bulk of the sales are made, followed by Mon which is a day that falls within the Weekday category</vt:lpstr>
      <vt:lpstr>- A steep increases in sales for the product is experienced in the first half of the year, leading to May which is the month were the most sales are made in a calendar year. - When viewing the Sales Trend by Month it is quite evident that the sales levels fluctuate throughout the year and sales levels are not consistent, this makes it difficult to forecast the product wholistically. </vt:lpstr>
      <vt:lpstr>- The Autumn season, is the season where most sales which are above average are made, which truly emphasizes the findings on the previous slide where the month of May is the one month where the highest amount of sales were made for the product in monetary value.</vt:lpstr>
      <vt:lpstr>- When the product is sold above the unit price, that is when the most losses are experienced. - Very little to non losses are experienced when the product is sold below the unit price or sold on promotion. - It is always advisable for a product to be sold according to its unit price or on promotion, as this increases the chances of maximising sales which in turn results in profits being derived for the sale of the product. - The relationship between sales and selling the product above unit price is inversely proportional, meaning that there is negative correlation between sales and selling the product above the unit price.</vt:lpstr>
      <vt:lpstr>- The costs to make the product are greater than the sales that are made on the product, meaning that no profits are derived from the sales of the product as it costs more to make it</vt:lpstr>
      <vt:lpstr>Recommendations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Lubabalo Sesonasipho Sitama</dc:creator>
  <cp:lastModifiedBy>Lubabalo Sesonasipho Sitama</cp:lastModifiedBy>
  <cp:revision>1</cp:revision>
  <dcterms:created xsi:type="dcterms:W3CDTF">2025-11-22T21:24:48Z</dcterms:created>
  <dcterms:modified xsi:type="dcterms:W3CDTF">2025-11-23T00:44:20Z</dcterms:modified>
</cp:coreProperties>
</file>